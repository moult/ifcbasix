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sldIdLst>
    <p:sldId id="256" r:id="rId2"/>
    <p:sldId id="325" r:id="rId3"/>
    <p:sldId id="324" r:id="rId4"/>
    <p:sldId id="288" r:id="rId5"/>
    <p:sldId id="301" r:id="rId6"/>
    <p:sldId id="304" r:id="rId7"/>
    <p:sldId id="303" r:id="rId8"/>
    <p:sldId id="316" r:id="rId9"/>
    <p:sldId id="296" r:id="rId10"/>
    <p:sldId id="297" r:id="rId11"/>
    <p:sldId id="299" r:id="rId12"/>
    <p:sldId id="286" r:id="rId13"/>
    <p:sldId id="289" r:id="rId14"/>
    <p:sldId id="280" r:id="rId15"/>
    <p:sldId id="281" r:id="rId16"/>
    <p:sldId id="259" r:id="rId17"/>
    <p:sldId id="284" r:id="rId18"/>
    <p:sldId id="260" r:id="rId19"/>
    <p:sldId id="283" r:id="rId20"/>
    <p:sldId id="1060" r:id="rId21"/>
    <p:sldId id="1061" r:id="rId22"/>
    <p:sldId id="1062" r:id="rId23"/>
    <p:sldId id="330" r:id="rId24"/>
    <p:sldId id="331" r:id="rId25"/>
    <p:sldId id="314" r:id="rId26"/>
    <p:sldId id="300" r:id="rId27"/>
    <p:sldId id="305" r:id="rId28"/>
    <p:sldId id="306" r:id="rId29"/>
    <p:sldId id="307" r:id="rId30"/>
    <p:sldId id="308" r:id="rId31"/>
    <p:sldId id="266" r:id="rId32"/>
    <p:sldId id="279" r:id="rId33"/>
    <p:sldId id="268" r:id="rId34"/>
    <p:sldId id="269" r:id="rId35"/>
    <p:sldId id="270" r:id="rId36"/>
    <p:sldId id="271" r:id="rId37"/>
    <p:sldId id="272" r:id="rId38"/>
    <p:sldId id="273" r:id="rId39"/>
    <p:sldId id="275" r:id="rId40"/>
    <p:sldId id="326" r:id="rId41"/>
    <p:sldId id="277" r:id="rId42"/>
    <p:sldId id="290" r:id="rId43"/>
    <p:sldId id="278" r:id="rId44"/>
    <p:sldId id="291" r:id="rId45"/>
    <p:sldId id="265" r:id="rId46"/>
    <p:sldId id="258" r:id="rId47"/>
    <p:sldId id="285" r:id="rId48"/>
    <p:sldId id="261" r:id="rId49"/>
    <p:sldId id="262" r:id="rId50"/>
    <p:sldId id="263" r:id="rId51"/>
    <p:sldId id="264" r:id="rId52"/>
    <p:sldId id="276" r:id="rId53"/>
    <p:sldId id="1059" r:id="rId5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521415D9-36F7-43E2-AB2F-B90AF26B5E84}">
      <p14:sectionLst xmlns:p14="http://schemas.microsoft.com/office/powerpoint/2010/main">
        <p14:section name="Default Section" id="{1E764EBB-2292-4A8E-A52D-F21A74282C34}">
          <p14:sldIdLst>
            <p14:sldId id="256"/>
          </p14:sldIdLst>
        </p14:section>
        <p14:section name="Inroduction" id="{B1D5DDBD-EA5A-4D0B-97F8-8DFB8E4D5136}">
          <p14:sldIdLst>
            <p14:sldId id="325"/>
            <p14:sldId id="324"/>
            <p14:sldId id="288"/>
          </p14:sldIdLst>
        </p14:section>
        <p14:section name="NCC\BCA" id="{6D5A6A27-09F3-4F32-AC17-998421C1A68F}">
          <p14:sldIdLst>
            <p14:sldId id="301"/>
            <p14:sldId id="304"/>
            <p14:sldId id="303"/>
            <p14:sldId id="316"/>
          </p14:sldIdLst>
        </p14:section>
        <p14:section name="NSW Planning Portal" id="{90169158-D5B5-4EE9-A3EA-666F85EA6634}">
          <p14:sldIdLst>
            <p14:sldId id="296"/>
            <p14:sldId id="297"/>
            <p14:sldId id="299"/>
            <p14:sldId id="286"/>
          </p14:sldIdLst>
        </p14:section>
        <p14:section name="Potential productivity improvements" id="{7C44DA97-14B9-41DA-BC14-5DEB7EEDA403}">
          <p14:sldIdLst>
            <p14:sldId id="289"/>
            <p14:sldId id="280"/>
            <p14:sldId id="281"/>
          </p14:sldIdLst>
        </p14:section>
        <p14:section name="3D Models and data" id="{1AB423C6-EC50-4187-92C8-9B09057FB80A}">
          <p14:sldIdLst>
            <p14:sldId id="259"/>
            <p14:sldId id="284"/>
            <p14:sldId id="260"/>
          </p14:sldIdLst>
        </p14:section>
        <p14:section name="Coding" id="{BEEBDC19-99BD-4952-8EB4-36D1256986BE}">
          <p14:sldIdLst>
            <p14:sldId id="283"/>
            <p14:sldId id="1060"/>
            <p14:sldId id="1061"/>
            <p14:sldId id="1062"/>
            <p14:sldId id="330"/>
            <p14:sldId id="331"/>
            <p14:sldId id="314"/>
            <p14:sldId id="300"/>
            <p14:sldId id="305"/>
            <p14:sldId id="306"/>
            <p14:sldId id="307"/>
            <p14:sldId id="308"/>
            <p14:sldId id="266"/>
          </p14:sldIdLst>
        </p14:section>
        <p14:section name="BASIX Website" id="{295DBDB1-4FA4-4393-86D7-B20276BD08E9}">
          <p14:sldIdLst>
            <p14:sldId id="279"/>
            <p14:sldId id="268"/>
            <p14:sldId id="269"/>
            <p14:sldId id="270"/>
            <p14:sldId id="271"/>
            <p14:sldId id="272"/>
            <p14:sldId id="273"/>
            <p14:sldId id="275"/>
            <p14:sldId id="326"/>
          </p14:sldIdLst>
        </p14:section>
        <p14:section name="Next steps" id="{94A81165-4CEF-4842-A522-C8DA7FAE36D8}">
          <p14:sldIdLst>
            <p14:sldId id="277"/>
          </p14:sldIdLst>
        </p14:section>
        <p14:section name="Related digital uses" id="{479D713D-4B46-4A18-9F55-3F9CA7A4653B}">
          <p14:sldIdLst>
            <p14:sldId id="290"/>
            <p14:sldId id="278"/>
          </p14:sldIdLst>
        </p14:section>
        <p14:section name="CFS Project-Enduroframe" id="{F96341D0-6E60-4CA7-B8FE-E165CD3E62AB}">
          <p14:sldIdLst/>
        </p14:section>
        <p14:section name="IDS data specification" id="{B394EDDD-E4ED-499A-9208-E4F2A3420ACB}">
          <p14:sldIdLst>
            <p14:sldId id="291"/>
            <p14:sldId id="265"/>
            <p14:sldId id="258"/>
            <p14:sldId id="285"/>
            <p14:sldId id="261"/>
            <p14:sldId id="262"/>
            <p14:sldId id="263"/>
            <p14:sldId id="264"/>
            <p14:sldId id="276"/>
          </p14:sldIdLst>
        </p14:section>
        <p14:section name="OS-examples" id="{EEAAF662-6963-44EE-81E8-905D881D2B56}">
          <p14:sldIdLst>
            <p14:sldId id="10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/>
      <a:tcStyle>
        <a:tcBdr/>
        <a:fill>
          <a:solidFill>
            <a:srgbClr val="F8F4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/>
      <a:tcStyle>
        <a:tcBdr/>
        <a:fill>
          <a:solidFill>
            <a:srgbClr val="EBE8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85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82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35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Shape 58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81" name="Shape 58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2291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5276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91CF9-5380-68C0-4752-9B8A805E8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B3C14-A0D8-0821-E315-77987CEB5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40999-AD61-489E-3EAB-C038DBEC9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3041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82E80-ECFA-2E83-4863-20095D96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FA091-7A9A-EAFA-E830-9E0A59687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824C5-C149-3210-E347-DE7B93B7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1660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16A9C-C07A-6BB3-C2CA-868E54028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7F396-D134-5E09-E46F-2D62AEF2A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CC1E6-96B2-C5D1-2468-EC4A0506C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59195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4844-6417-DE83-DB85-1D0523FAD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17F4C0-66DB-E8D9-C9F5-3530E5C46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1AFAA4-994B-C089-2324-63D33948E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1445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397EC-6085-AA0C-642A-670CB094B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2C9821-4474-0B0C-88E2-E06002C3B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B7737-DC7A-8112-DDE0-CEE333242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045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/>
          <p:cNvSpPr txBox="1">
            <a:spLocks noGrp="1"/>
          </p:cNvSpPr>
          <p:nvPr>
            <p:ph type="title"/>
          </p:nvPr>
        </p:nvSpPr>
        <p:spPr>
          <a:xfrm>
            <a:off x="2416968" y="1950640"/>
            <a:ext cx="7358065" cy="2321720"/>
          </a:xfrm>
          <a:prstGeom prst="rect">
            <a:avLst/>
          </a:prstGeom>
        </p:spPr>
        <p:txBody>
          <a:bodyPr/>
          <a:lstStyle>
            <a:lvl1pPr>
              <a:defRPr sz="5600" b="0">
                <a:solidFill>
                  <a:schemeClr val="accent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Title Text</a:t>
            </a:r>
          </a:p>
        </p:txBody>
      </p:sp>
      <p:pic>
        <p:nvPicPr>
          <p:cNvPr id="18" name="BuildingSMART_RGB_Australasia_colour.png" descr="BuildingSMART_RGB_Australasia_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84" y="5906530"/>
            <a:ext cx="3349432" cy="60140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" name="Group"/>
          <p:cNvGrpSpPr/>
          <p:nvPr/>
        </p:nvGrpSpPr>
        <p:grpSpPr>
          <a:xfrm>
            <a:off x="-3" y="6768000"/>
            <a:ext cx="12192005" cy="90004"/>
            <a:chOff x="0" y="0"/>
            <a:chExt cx="12192004" cy="90003"/>
          </a:xfrm>
        </p:grpSpPr>
        <p:sp>
          <p:nvSpPr>
            <p:cNvPr id="19" name="Rectangle"/>
            <p:cNvSpPr/>
            <p:nvPr/>
          </p:nvSpPr>
          <p:spPr>
            <a:xfrm>
              <a:off x="6120001" y="-1"/>
              <a:ext cx="3060003" cy="90005"/>
            </a:xfrm>
            <a:prstGeom prst="rect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" name="Rectangle"/>
            <p:cNvSpPr/>
            <p:nvPr/>
          </p:nvSpPr>
          <p:spPr>
            <a:xfrm>
              <a:off x="-1" y="-1"/>
              <a:ext cx="3060003" cy="90005"/>
            </a:xfrm>
            <a:prstGeom prst="rect">
              <a:avLst/>
            </a:prstGeom>
            <a:solidFill>
              <a:srgbClr val="4EA5C7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1" name="Rectangle"/>
            <p:cNvSpPr/>
            <p:nvPr/>
          </p:nvSpPr>
          <p:spPr>
            <a:xfrm>
              <a:off x="3060000" y="-1"/>
              <a:ext cx="3060003" cy="90005"/>
            </a:xfrm>
            <a:prstGeom prst="rect">
              <a:avLst/>
            </a:prstGeom>
            <a:gradFill flip="none" rotWithShape="1">
              <a:gsLst>
                <a:gs pos="0">
                  <a:srgbClr val="FA4813"/>
                </a:gs>
                <a:gs pos="100000">
                  <a:schemeClr val="accent5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2" name="Rectangle"/>
            <p:cNvSpPr/>
            <p:nvPr/>
          </p:nvSpPr>
          <p:spPr>
            <a:xfrm>
              <a:off x="9132001" y="-1"/>
              <a:ext cx="3060003" cy="90005"/>
            </a:xfrm>
            <a:prstGeom prst="rect">
              <a:avLst/>
            </a:prstGeom>
            <a:solidFill>
              <a:srgbClr val="174F86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7907" y="6505277"/>
            <a:ext cx="325040" cy="32067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BuildingSMART_RGB_Australasia_colour.png" descr="BuildingSMART_RGB_Australasia_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256" y="6362710"/>
            <a:ext cx="1622211" cy="2912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6" name="Group"/>
          <p:cNvGrpSpPr/>
          <p:nvPr/>
        </p:nvGrpSpPr>
        <p:grpSpPr>
          <a:xfrm>
            <a:off x="-3" y="6768000"/>
            <a:ext cx="12192005" cy="90004"/>
            <a:chOff x="0" y="0"/>
            <a:chExt cx="12192004" cy="90003"/>
          </a:xfrm>
        </p:grpSpPr>
        <p:sp>
          <p:nvSpPr>
            <p:cNvPr id="32" name="Rectangle"/>
            <p:cNvSpPr/>
            <p:nvPr/>
          </p:nvSpPr>
          <p:spPr>
            <a:xfrm>
              <a:off x="6120001" y="-1"/>
              <a:ext cx="3060003" cy="90005"/>
            </a:xfrm>
            <a:prstGeom prst="rect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3" name="Rectangle"/>
            <p:cNvSpPr/>
            <p:nvPr/>
          </p:nvSpPr>
          <p:spPr>
            <a:xfrm>
              <a:off x="-1" y="-1"/>
              <a:ext cx="3060003" cy="90005"/>
            </a:xfrm>
            <a:prstGeom prst="rect">
              <a:avLst/>
            </a:prstGeom>
            <a:solidFill>
              <a:srgbClr val="4EA5C7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4" name="Rectangle"/>
            <p:cNvSpPr/>
            <p:nvPr/>
          </p:nvSpPr>
          <p:spPr>
            <a:xfrm>
              <a:off x="3060000" y="-1"/>
              <a:ext cx="3060003" cy="90005"/>
            </a:xfrm>
            <a:prstGeom prst="rect">
              <a:avLst/>
            </a:prstGeom>
            <a:gradFill flip="none" rotWithShape="1">
              <a:gsLst>
                <a:gs pos="0">
                  <a:srgbClr val="FA4813"/>
                </a:gs>
                <a:gs pos="100000">
                  <a:schemeClr val="accent5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5" name="Rectangle"/>
            <p:cNvSpPr/>
            <p:nvPr/>
          </p:nvSpPr>
          <p:spPr>
            <a:xfrm>
              <a:off x="9132001" y="-1"/>
              <a:ext cx="3060003" cy="90005"/>
            </a:xfrm>
            <a:prstGeom prst="rect">
              <a:avLst/>
            </a:prstGeom>
            <a:solidFill>
              <a:srgbClr val="174F86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37" name="Image"/>
          <p:cNvSpPr>
            <a:spLocks noGrp="1"/>
          </p:cNvSpPr>
          <p:nvPr>
            <p:ph type="pic" sz="half" idx="21"/>
          </p:nvPr>
        </p:nvSpPr>
        <p:spPr>
          <a:xfrm>
            <a:off x="6247805" y="446483"/>
            <a:ext cx="3750470" cy="578644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2193726" y="446483"/>
            <a:ext cx="3750471" cy="2803925"/>
          </a:xfrm>
          <a:prstGeom prst="rect">
            <a:avLst/>
          </a:prstGeom>
        </p:spPr>
        <p:txBody>
          <a:bodyPr anchor="b"/>
          <a:lstStyle>
            <a:lvl1pPr algn="l">
              <a:spcBef>
                <a:spcPts val="1800"/>
              </a:spcBef>
              <a:defRPr sz="30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193726" y="3348632"/>
            <a:ext cx="3750471" cy="288429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indent="0" algn="ctr">
              <a:spcBef>
                <a:spcPts val="0"/>
              </a:spcBef>
              <a:buSzTx/>
              <a:buNone/>
              <a:defRPr sz="2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indent="0" algn="ctr">
              <a:spcBef>
                <a:spcPts val="0"/>
              </a:spcBef>
              <a:buSzTx/>
              <a:buNone/>
              <a:defRPr sz="2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indent="0" algn="ctr">
              <a:spcBef>
                <a:spcPts val="0"/>
              </a:spcBef>
              <a:buSzTx/>
              <a:buNone/>
              <a:defRPr sz="2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indent="0" algn="ctr">
              <a:spcBef>
                <a:spcPts val="0"/>
              </a:spcBef>
              <a:buSzTx/>
              <a:buNone/>
              <a:defRPr sz="2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7907" y="6505277"/>
            <a:ext cx="325040" cy="32067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BuildingSMART_RGB_Australasia_colour.png" descr="BuildingSMART_RGB_Australasia_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256" y="6362710"/>
            <a:ext cx="1622211" cy="2912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2" name="Group"/>
          <p:cNvGrpSpPr/>
          <p:nvPr/>
        </p:nvGrpSpPr>
        <p:grpSpPr>
          <a:xfrm>
            <a:off x="-3" y="6768000"/>
            <a:ext cx="12192005" cy="90004"/>
            <a:chOff x="0" y="0"/>
            <a:chExt cx="12192004" cy="90003"/>
          </a:xfrm>
        </p:grpSpPr>
        <p:sp>
          <p:nvSpPr>
            <p:cNvPr id="48" name="Rectangle"/>
            <p:cNvSpPr/>
            <p:nvPr/>
          </p:nvSpPr>
          <p:spPr>
            <a:xfrm>
              <a:off x="6120001" y="-1"/>
              <a:ext cx="3060003" cy="90005"/>
            </a:xfrm>
            <a:prstGeom prst="rect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9" name="Rectangle"/>
            <p:cNvSpPr/>
            <p:nvPr/>
          </p:nvSpPr>
          <p:spPr>
            <a:xfrm>
              <a:off x="-1" y="-1"/>
              <a:ext cx="3060003" cy="90005"/>
            </a:xfrm>
            <a:prstGeom prst="rect">
              <a:avLst/>
            </a:prstGeom>
            <a:solidFill>
              <a:srgbClr val="4EA5C7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0" name="Rectangle"/>
            <p:cNvSpPr/>
            <p:nvPr/>
          </p:nvSpPr>
          <p:spPr>
            <a:xfrm>
              <a:off x="3060000" y="-1"/>
              <a:ext cx="3060003" cy="90005"/>
            </a:xfrm>
            <a:prstGeom prst="rect">
              <a:avLst/>
            </a:prstGeom>
            <a:gradFill flip="none" rotWithShape="1">
              <a:gsLst>
                <a:gs pos="0">
                  <a:srgbClr val="FA4813"/>
                </a:gs>
                <a:gs pos="100000">
                  <a:schemeClr val="accent5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1" name="Rectangle"/>
            <p:cNvSpPr/>
            <p:nvPr/>
          </p:nvSpPr>
          <p:spPr>
            <a:xfrm>
              <a:off x="9132001" y="-1"/>
              <a:ext cx="3060003" cy="90005"/>
            </a:xfrm>
            <a:prstGeom prst="rect">
              <a:avLst/>
            </a:prstGeom>
            <a:solidFill>
              <a:srgbClr val="174F86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xfrm>
            <a:off x="2193726" y="312538"/>
            <a:ext cx="7804548" cy="1518050"/>
          </a:xfrm>
          <a:prstGeom prst="rect">
            <a:avLst/>
          </a:prstGeom>
        </p:spPr>
        <p:txBody>
          <a:bodyPr/>
          <a:lstStyle>
            <a:lvl1pPr>
              <a:defRPr sz="5600" b="0">
                <a:solidFill>
                  <a:srgbClr val="174F86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7907" y="6505277"/>
            <a:ext cx="325040" cy="32067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Body Level One…"/>
          <p:cNvSpPr txBox="1">
            <a:spLocks noGrp="1"/>
          </p:cNvSpPr>
          <p:nvPr>
            <p:ph type="body" idx="1"/>
          </p:nvPr>
        </p:nvSpPr>
        <p:spPr>
          <a:xfrm>
            <a:off x="1239538" y="892967"/>
            <a:ext cx="9853591" cy="50720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327B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>
              <a:defRPr>
                <a:solidFill>
                  <a:srgbClr val="5F327B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>
              <a:defRPr>
                <a:solidFill>
                  <a:srgbClr val="5F327B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>
              <a:defRPr>
                <a:solidFill>
                  <a:srgbClr val="5F327B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>
              <a:defRPr>
                <a:solidFill>
                  <a:srgbClr val="5F327B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7907" y="6505277"/>
            <a:ext cx="325040" cy="32067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Image"/>
          <p:cNvSpPr>
            <a:spLocks noGrp="1"/>
          </p:cNvSpPr>
          <p:nvPr>
            <p:ph type="pic" sz="quarter" idx="21"/>
          </p:nvPr>
        </p:nvSpPr>
        <p:spPr>
          <a:xfrm>
            <a:off x="6247805" y="3580805"/>
            <a:ext cx="3750470" cy="265212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0" name="Image"/>
          <p:cNvSpPr>
            <a:spLocks noGrp="1"/>
          </p:cNvSpPr>
          <p:nvPr>
            <p:ph type="pic" sz="quarter" idx="22"/>
          </p:nvPr>
        </p:nvSpPr>
        <p:spPr>
          <a:xfrm>
            <a:off x="6252176" y="625077"/>
            <a:ext cx="3750471" cy="265212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1" name="Image"/>
          <p:cNvSpPr>
            <a:spLocks noGrp="1"/>
          </p:cNvSpPr>
          <p:nvPr>
            <p:ph type="pic" sz="half" idx="23"/>
          </p:nvPr>
        </p:nvSpPr>
        <p:spPr>
          <a:xfrm>
            <a:off x="2193726" y="625077"/>
            <a:ext cx="3750471" cy="5607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7907" y="6505277"/>
            <a:ext cx="325040" cy="32067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416968" y="4473773"/>
            <a:ext cx="7358065" cy="33040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1200"/>
              </a:spcBef>
              <a:buSzTx/>
              <a:buNone/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1pPr>
            <a:lvl2pPr marL="419804" indent="-197556">
              <a:spcBef>
                <a:spcPts val="1200"/>
              </a:spcBef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2pPr>
            <a:lvl3pPr marL="642054" indent="-197554">
              <a:spcBef>
                <a:spcPts val="1200"/>
              </a:spcBef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3pPr>
            <a:lvl4pPr marL="864304" indent="-197554">
              <a:spcBef>
                <a:spcPts val="1200"/>
              </a:spcBef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4pPr>
            <a:lvl5pPr marL="1086554" indent="-197554">
              <a:spcBef>
                <a:spcPts val="1200"/>
              </a:spcBef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0" name="“Type a quote here.”"/>
          <p:cNvSpPr txBox="1">
            <a:spLocks noGrp="1"/>
          </p:cNvSpPr>
          <p:nvPr>
            <p:ph type="body" sz="quarter" idx="21"/>
          </p:nvPr>
        </p:nvSpPr>
        <p:spPr>
          <a:xfrm>
            <a:off x="2416967" y="3000176"/>
            <a:ext cx="7358066" cy="48260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7907" y="6505277"/>
            <a:ext cx="325040" cy="32067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Image"/>
          <p:cNvSpPr>
            <a:spLocks noGrp="1"/>
          </p:cNvSpPr>
          <p:nvPr>
            <p:ph type="pic" idx="21"/>
          </p:nvPr>
        </p:nvSpPr>
        <p:spPr>
          <a:xfrm>
            <a:off x="1524000" y="0"/>
            <a:ext cx="9144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7907" y="6505277"/>
            <a:ext cx="325040" cy="32067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2147886" y="857250"/>
            <a:ext cx="7886705" cy="3421859"/>
          </a:xfrm>
          <a:prstGeom prst="rect">
            <a:avLst/>
          </a:prstGeom>
        </p:spPr>
        <p:txBody>
          <a:bodyPr lIns="68579" tIns="68579" rIns="68579" bIns="68579" anchor="b"/>
          <a:lstStyle>
            <a:lvl1pPr algn="l" defTabSz="914400">
              <a:lnSpc>
                <a:spcPct val="90000"/>
              </a:lnSpc>
              <a:defRPr sz="5900" b="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147886" y="4299346"/>
            <a:ext cx="7886705" cy="1701406"/>
          </a:xfrm>
          <a:prstGeom prst="rect">
            <a:avLst/>
          </a:prstGeom>
        </p:spPr>
        <p:txBody>
          <a:bodyPr lIns="68579" tIns="68579" rIns="68579" bIns="68579" anchor="t"/>
          <a:lstStyle>
            <a:lvl1pPr marL="0" indent="0" defTabSz="914400">
              <a:lnSpc>
                <a:spcPct val="90000"/>
              </a:lnSpc>
              <a:spcBef>
                <a:spcPts val="1000"/>
              </a:spcBef>
              <a:buSzTx/>
              <a:buNone/>
              <a:defRPr sz="23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  <a:lvl2pPr marL="0" indent="0" defTabSz="914400">
              <a:lnSpc>
                <a:spcPct val="90000"/>
              </a:lnSpc>
              <a:spcBef>
                <a:spcPts val="1000"/>
              </a:spcBef>
              <a:buSzTx/>
              <a:buNone/>
              <a:defRPr sz="23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2pPr>
            <a:lvl3pPr marL="0" indent="0" defTabSz="914400">
              <a:lnSpc>
                <a:spcPct val="90000"/>
              </a:lnSpc>
              <a:spcBef>
                <a:spcPts val="1000"/>
              </a:spcBef>
              <a:buSzTx/>
              <a:buNone/>
              <a:defRPr sz="23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3pPr>
            <a:lvl4pPr marL="0" indent="0" defTabSz="914400">
              <a:lnSpc>
                <a:spcPct val="90000"/>
              </a:lnSpc>
              <a:spcBef>
                <a:spcPts val="1000"/>
              </a:spcBef>
              <a:buSzTx/>
              <a:buNone/>
              <a:defRPr sz="23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4pPr>
            <a:lvl5pPr marL="0" indent="0" defTabSz="914400">
              <a:lnSpc>
                <a:spcPct val="90000"/>
              </a:lnSpc>
              <a:spcBef>
                <a:spcPts val="1000"/>
              </a:spcBef>
              <a:buSzTx/>
              <a:buNone/>
              <a:defRPr sz="23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039350" y="5610305"/>
            <a:ext cx="291469" cy="302259"/>
          </a:xfrm>
          <a:prstGeom prst="rect">
            <a:avLst/>
          </a:prstGeom>
        </p:spPr>
        <p:txBody>
          <a:bodyPr lIns="68579" tIns="68579" rIns="68579" bIns="68579" anchor="ctr"/>
          <a:lstStyle>
            <a:lvl1pPr>
              <a:defRPr sz="11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.1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ree Blank,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2652" y="6163313"/>
            <a:ext cx="344550" cy="386074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r" defTabSz="1031625">
              <a:defRPr>
                <a:latin typeface="Roboto Condensed Regular"/>
                <a:ea typeface="Roboto Condensed Regular"/>
                <a:cs typeface="Roboto Condensed Regular"/>
                <a:sym typeface="Roboto Condensed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Text"/>
          <p:cNvSpPr txBox="1">
            <a:spLocks noGrp="1"/>
          </p:cNvSpPr>
          <p:nvPr>
            <p:ph type="title"/>
          </p:nvPr>
        </p:nvSpPr>
        <p:spPr>
          <a:xfrm>
            <a:off x="3276600" y="855378"/>
            <a:ext cx="5638800" cy="353527"/>
          </a:xfrm>
          <a:prstGeom prst="rect">
            <a:avLst/>
          </a:prstGeom>
        </p:spPr>
        <p:txBody>
          <a:bodyPr lIns="0" tIns="0" rIns="0" bIns="0"/>
          <a:lstStyle>
            <a:lvl1pPr defTabSz="914400">
              <a:defRPr sz="2000" b="0">
                <a:solidFill>
                  <a:srgbClr val="80808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1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38600" y="1207369"/>
            <a:ext cx="4114800" cy="200750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914400">
              <a:spcBef>
                <a:spcPts val="200"/>
              </a:spcBef>
              <a:buSzTx/>
              <a:buNone/>
              <a:defRPr sz="1100">
                <a:solidFill>
                  <a:srgbClr val="BFBF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defRPr>
            </a:lvl1pPr>
            <a:lvl2pPr marL="0" indent="0" algn="ctr" defTabSz="914400">
              <a:spcBef>
                <a:spcPts val="200"/>
              </a:spcBef>
              <a:buSzTx/>
              <a:buNone/>
              <a:defRPr sz="1100">
                <a:solidFill>
                  <a:srgbClr val="BFBF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defRPr>
            </a:lvl2pPr>
            <a:lvl3pPr marL="0" indent="0" algn="ctr" defTabSz="914400">
              <a:spcBef>
                <a:spcPts val="200"/>
              </a:spcBef>
              <a:buSzTx/>
              <a:buNone/>
              <a:defRPr sz="1100">
                <a:solidFill>
                  <a:srgbClr val="BFBF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defRPr>
            </a:lvl3pPr>
            <a:lvl4pPr marL="0" indent="0" algn="ctr" defTabSz="914400">
              <a:spcBef>
                <a:spcPts val="200"/>
              </a:spcBef>
              <a:buSzTx/>
              <a:buNone/>
              <a:defRPr sz="1100">
                <a:solidFill>
                  <a:srgbClr val="BFBF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defRPr>
            </a:lvl4pPr>
            <a:lvl5pPr marL="0" indent="0" algn="ctr" defTabSz="914400">
              <a:spcBef>
                <a:spcPts val="200"/>
              </a:spcBef>
              <a:buSzTx/>
              <a:buNone/>
              <a:defRPr sz="1100">
                <a:solidFill>
                  <a:srgbClr val="BFBF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355711" y="6191832"/>
            <a:ext cx="309036" cy="322573"/>
          </a:xfrm>
          <a:prstGeom prst="rect">
            <a:avLst/>
          </a:prstGeom>
        </p:spPr>
        <p:txBody>
          <a:bodyPr lIns="91436" tIns="91436" rIns="91436" bIns="91436" anchor="ctr"/>
          <a:lstStyle>
            <a:lvl1pPr defTabSz="1031625">
              <a:defRPr sz="900">
                <a:solidFill>
                  <a:srgbClr val="80808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130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31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32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33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135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23" y="6407197"/>
            <a:ext cx="1699364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0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136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37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38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39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914400" y="2409059"/>
            <a:ext cx="10363200" cy="912772"/>
          </a:xfrm>
          <a:prstGeom prst="rect">
            <a:avLst/>
          </a:prstGeom>
        </p:spPr>
        <p:txBody>
          <a:bodyPr lIns="108744" tIns="108744" rIns="108744" bIns="108744"/>
          <a:lstStyle>
            <a:lvl1pPr defTabSz="543665">
              <a:defRPr sz="3000" b="0">
                <a:solidFill>
                  <a:srgbClr val="1D8EE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 lIns="108744" tIns="108744" rIns="108744" bIns="108744" anchor="t"/>
          <a:lstStyle>
            <a:lvl1pPr marL="0" indent="0" algn="ctr" defTabSz="543665">
              <a:lnSpc>
                <a:spcPct val="120000"/>
              </a:lnSpc>
              <a:spcBef>
                <a:spcPts val="200"/>
              </a:spcBef>
              <a:buSzTx/>
              <a:buNone/>
              <a:defRPr sz="12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indent="543667" algn="ctr" defTabSz="543665">
              <a:lnSpc>
                <a:spcPct val="120000"/>
              </a:lnSpc>
              <a:spcBef>
                <a:spcPts val="200"/>
              </a:spcBef>
              <a:buSzTx/>
              <a:buNone/>
              <a:defRPr sz="12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indent="1087334" algn="ctr" defTabSz="543665">
              <a:lnSpc>
                <a:spcPct val="120000"/>
              </a:lnSpc>
              <a:spcBef>
                <a:spcPts val="200"/>
              </a:spcBef>
              <a:buSzTx/>
              <a:buNone/>
              <a:defRPr sz="12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indent="1631006" algn="ctr" defTabSz="543665">
              <a:lnSpc>
                <a:spcPct val="120000"/>
              </a:lnSpc>
              <a:spcBef>
                <a:spcPts val="200"/>
              </a:spcBef>
              <a:buSzTx/>
              <a:buNone/>
              <a:defRPr sz="12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indent="2174671" algn="ctr" defTabSz="543665">
              <a:lnSpc>
                <a:spcPct val="120000"/>
              </a:lnSpc>
              <a:spcBef>
                <a:spcPts val="200"/>
              </a:spcBef>
              <a:buSzTx/>
              <a:buNone/>
              <a:defRPr sz="12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53114" y="294880"/>
            <a:ext cx="412698" cy="152401"/>
          </a:xfrm>
          <a:prstGeom prst="rect">
            <a:avLst/>
          </a:prstGeom>
          <a:solidFill>
            <a:srgbClr val="1D8EEA"/>
          </a:solidFill>
        </p:spPr>
        <p:txBody>
          <a:bodyPr wrap="square" lIns="0" tIns="0" rIns="0" bIns="0" anchor="ctr"/>
          <a:lstStyle>
            <a:lvl1pPr algn="ctr">
              <a:defRPr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Welcome Message"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150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51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52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53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155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0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156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57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58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59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161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4890148" y="792733"/>
            <a:ext cx="2411704" cy="241202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62" name="Title Text"/>
          <p:cNvSpPr txBox="1">
            <a:spLocks noGrp="1"/>
          </p:cNvSpPr>
          <p:nvPr>
            <p:ph type="title"/>
          </p:nvPr>
        </p:nvSpPr>
        <p:spPr>
          <a:xfrm>
            <a:off x="2379235" y="3404806"/>
            <a:ext cx="7433531" cy="595212"/>
          </a:xfrm>
          <a:prstGeom prst="rect">
            <a:avLst/>
          </a:prstGeom>
        </p:spPr>
        <p:txBody>
          <a:bodyPr lIns="108744" tIns="108744" rIns="108744" bIns="108744"/>
          <a:lstStyle>
            <a:lvl1pPr defTabSz="543665">
              <a:defRPr sz="3000" b="0">
                <a:solidFill>
                  <a:srgbClr val="1D8EE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6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28800" y="4319115"/>
            <a:ext cx="8534400" cy="1395281"/>
          </a:xfrm>
          <a:prstGeom prst="rect">
            <a:avLst/>
          </a:prstGeom>
        </p:spPr>
        <p:txBody>
          <a:bodyPr lIns="108744" tIns="108744" rIns="108744" bIns="108744" anchor="t"/>
          <a:lstStyle>
            <a:lvl1pPr marL="0" indent="0" algn="ctr" defTabSz="543665">
              <a:lnSpc>
                <a:spcPct val="130000"/>
              </a:lnSpc>
              <a:spcBef>
                <a:spcPts val="200"/>
              </a:spcBef>
              <a:buSzTx/>
              <a:buNone/>
              <a:defRPr sz="1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indent="543665" algn="ctr" defTabSz="543665">
              <a:lnSpc>
                <a:spcPct val="130000"/>
              </a:lnSpc>
              <a:spcBef>
                <a:spcPts val="200"/>
              </a:spcBef>
              <a:buSzTx/>
              <a:buNone/>
              <a:defRPr sz="1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indent="1087328" algn="ctr" defTabSz="543665">
              <a:lnSpc>
                <a:spcPct val="130000"/>
              </a:lnSpc>
              <a:spcBef>
                <a:spcPts val="200"/>
              </a:spcBef>
              <a:buSzTx/>
              <a:buNone/>
              <a:defRPr sz="1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indent="1630994" algn="ctr" defTabSz="543665">
              <a:lnSpc>
                <a:spcPct val="130000"/>
              </a:lnSpc>
              <a:spcBef>
                <a:spcPts val="200"/>
              </a:spcBef>
              <a:buSzTx/>
              <a:buNone/>
              <a:defRPr sz="1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indent="2174657" algn="ctr" defTabSz="543665">
              <a:lnSpc>
                <a:spcPct val="130000"/>
              </a:lnSpc>
              <a:spcBef>
                <a:spcPts val="200"/>
              </a:spcBef>
              <a:buSzTx/>
              <a:buNone/>
              <a:defRPr sz="1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53114" y="294880"/>
            <a:ext cx="412698" cy="15240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/>
          <a:lstStyle>
            <a:lvl1pPr algn="ctr">
              <a:defRPr sz="1000">
                <a:solidFill>
                  <a:srgbClr val="116BB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65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73" y="6368579"/>
            <a:ext cx="1704121" cy="30632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0" name="Group 9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166" name="Rectangle 10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67" name="Rectangle 11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68" name="Rectangle 12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69" name="Rectangle 13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grpSp>
        <p:nvGrpSpPr>
          <p:cNvPr id="175" name="Group 14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171" name="Rectangle 15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72" name="Rectangle 16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73" name="Rectangle 17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74" name="Rectangle 18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Welcome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182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83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84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85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187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188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89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190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91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193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4890148" y="792733"/>
            <a:ext cx="2411704" cy="241202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94" name="Title Text"/>
          <p:cNvSpPr txBox="1">
            <a:spLocks noGrp="1"/>
          </p:cNvSpPr>
          <p:nvPr>
            <p:ph type="title"/>
          </p:nvPr>
        </p:nvSpPr>
        <p:spPr>
          <a:xfrm>
            <a:off x="2379235" y="3404806"/>
            <a:ext cx="7433531" cy="595212"/>
          </a:xfrm>
          <a:prstGeom prst="rect">
            <a:avLst/>
          </a:prstGeom>
        </p:spPr>
        <p:txBody>
          <a:bodyPr lIns="108744" tIns="108744" rIns="108744" bIns="108744"/>
          <a:lstStyle>
            <a:lvl1pPr defTabSz="543665">
              <a:defRPr sz="3000" b="0">
                <a:solidFill>
                  <a:srgbClr val="1D8EE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9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28800" y="4319115"/>
            <a:ext cx="8534400" cy="1395281"/>
          </a:xfrm>
          <a:prstGeom prst="rect">
            <a:avLst/>
          </a:prstGeom>
        </p:spPr>
        <p:txBody>
          <a:bodyPr lIns="108744" tIns="108744" rIns="108744" bIns="108744" anchor="t"/>
          <a:lstStyle>
            <a:lvl1pPr marL="0" indent="0" algn="ctr" defTabSz="543665">
              <a:lnSpc>
                <a:spcPct val="130000"/>
              </a:lnSpc>
              <a:spcBef>
                <a:spcPts val="200"/>
              </a:spcBef>
              <a:buSzTx/>
              <a:buNone/>
              <a:defRPr sz="12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indent="543665" algn="ctr" defTabSz="543665">
              <a:lnSpc>
                <a:spcPct val="130000"/>
              </a:lnSpc>
              <a:spcBef>
                <a:spcPts val="200"/>
              </a:spcBef>
              <a:buSzTx/>
              <a:buNone/>
              <a:defRPr sz="12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indent="1087328" algn="ctr" defTabSz="543665">
              <a:lnSpc>
                <a:spcPct val="130000"/>
              </a:lnSpc>
              <a:spcBef>
                <a:spcPts val="200"/>
              </a:spcBef>
              <a:buSzTx/>
              <a:buNone/>
              <a:defRPr sz="12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indent="1630994" algn="ctr" defTabSz="543665">
              <a:lnSpc>
                <a:spcPct val="130000"/>
              </a:lnSpc>
              <a:spcBef>
                <a:spcPts val="200"/>
              </a:spcBef>
              <a:buSzTx/>
              <a:buNone/>
              <a:defRPr sz="12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indent="2174657" algn="ctr" defTabSz="543665">
              <a:lnSpc>
                <a:spcPct val="130000"/>
              </a:lnSpc>
              <a:spcBef>
                <a:spcPts val="200"/>
              </a:spcBef>
              <a:buSzTx/>
              <a:buNone/>
              <a:defRPr sz="12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53114" y="294880"/>
            <a:ext cx="412698" cy="152401"/>
          </a:xfrm>
          <a:prstGeom prst="rect">
            <a:avLst/>
          </a:prstGeom>
          <a:solidFill>
            <a:srgbClr val="1D8EEA"/>
          </a:solidFill>
        </p:spPr>
        <p:txBody>
          <a:bodyPr wrap="square" lIns="0" tIns="0" rIns="0" bIns="0" anchor="ctr"/>
          <a:lstStyle>
            <a:lvl1pPr algn="ctr">
              <a:defRPr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rea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203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04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05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206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208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3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209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10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11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212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214" name="Picture Placeholder 4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222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23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24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225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227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2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228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29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30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231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233" name="Picture Placeholder 4"/>
          <p:cNvSpPr>
            <a:spLocks noGrp="1"/>
          </p:cNvSpPr>
          <p:nvPr>
            <p:ph type="pic" idx="21"/>
          </p:nvPr>
        </p:nvSpPr>
        <p:spPr>
          <a:xfrm>
            <a:off x="1" y="0"/>
            <a:ext cx="7799959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u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241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42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43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244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246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1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247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48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49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250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252" name="Rectangle 12"/>
          <p:cNvSpPr/>
          <p:nvPr/>
        </p:nvSpPr>
        <p:spPr>
          <a:xfrm>
            <a:off x="0" y="6204744"/>
            <a:ext cx="12192000" cy="65325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4" tIns="71434" rIns="71434" bIns="71434" anchor="ctr"/>
          <a:lstStyle/>
          <a:p>
            <a:pPr algn="ctr" defTabSz="543667">
              <a:defRPr sz="25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endParaRPr/>
          </a:p>
        </p:txBody>
      </p:sp>
      <p:sp>
        <p:nvSpPr>
          <p:cNvPr id="25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645279" y="2063306"/>
            <a:ext cx="1991261" cy="199151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54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3954010" y="2063306"/>
            <a:ext cx="1991262" cy="199151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55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6291833" y="2063306"/>
            <a:ext cx="1991261" cy="199151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56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8629428" y="2063306"/>
            <a:ext cx="1991261" cy="199151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57" name="Title Text"/>
          <p:cNvSpPr txBox="1">
            <a:spLocks noGrp="1"/>
          </p:cNvSpPr>
          <p:nvPr>
            <p:ph type="title"/>
          </p:nvPr>
        </p:nvSpPr>
        <p:spPr>
          <a:xfrm>
            <a:off x="914400" y="283885"/>
            <a:ext cx="10363200" cy="566761"/>
          </a:xfrm>
          <a:prstGeom prst="rect">
            <a:avLst/>
          </a:prstGeom>
        </p:spPr>
        <p:txBody>
          <a:bodyPr lIns="108744" tIns="108744" rIns="108744" bIns="108744"/>
          <a:lstStyle>
            <a:lvl1pPr defTabSz="543665">
              <a:defRPr sz="3000" b="0">
                <a:solidFill>
                  <a:srgbClr val="1D8EE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Title Text</a:t>
            </a:r>
          </a:p>
        </p:txBody>
      </p:sp>
      <p:sp>
        <p:nvSpPr>
          <p:cNvPr id="2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26338" y="716525"/>
            <a:ext cx="10326626" cy="537942"/>
          </a:xfrm>
          <a:prstGeom prst="rect">
            <a:avLst/>
          </a:prstGeom>
        </p:spPr>
        <p:txBody>
          <a:bodyPr lIns="108744" tIns="108744" rIns="108744" bIns="108744" anchor="t"/>
          <a:lstStyle>
            <a:lvl1pPr marL="0" indent="0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indent="543665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indent="1087328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indent="1630994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indent="2174657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53114" y="294880"/>
            <a:ext cx="412698" cy="152401"/>
          </a:xfrm>
          <a:prstGeom prst="rect">
            <a:avLst/>
          </a:prstGeom>
          <a:solidFill>
            <a:srgbClr val="1D8EEA"/>
          </a:solidFill>
        </p:spPr>
        <p:txBody>
          <a:bodyPr wrap="square" lIns="0" tIns="0" rIns="0" bIns="0" anchor="ctr"/>
          <a:lstStyle>
            <a:lvl1pPr algn="ctr">
              <a:defRPr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266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67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68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269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271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6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272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73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74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275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2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S w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284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85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86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287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289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94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290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91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292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293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295" name="Title Text"/>
          <p:cNvSpPr txBox="1">
            <a:spLocks noGrp="1"/>
          </p:cNvSpPr>
          <p:nvPr>
            <p:ph type="title"/>
          </p:nvPr>
        </p:nvSpPr>
        <p:spPr>
          <a:xfrm>
            <a:off x="914400" y="283885"/>
            <a:ext cx="10363200" cy="566761"/>
          </a:xfrm>
          <a:prstGeom prst="rect">
            <a:avLst/>
          </a:prstGeom>
        </p:spPr>
        <p:txBody>
          <a:bodyPr lIns="108744" tIns="108744" rIns="108744" bIns="108744"/>
          <a:lstStyle>
            <a:lvl1pPr defTabSz="543665">
              <a:defRPr sz="3000" b="0">
                <a:solidFill>
                  <a:srgbClr val="1D8EE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Title Text</a:t>
            </a:r>
          </a:p>
        </p:txBody>
      </p:sp>
      <p:sp>
        <p:nvSpPr>
          <p:cNvPr id="2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26338" y="716525"/>
            <a:ext cx="10326626" cy="537942"/>
          </a:xfrm>
          <a:prstGeom prst="rect">
            <a:avLst/>
          </a:prstGeom>
        </p:spPr>
        <p:txBody>
          <a:bodyPr lIns="108744" tIns="108744" rIns="108744" bIns="108744" anchor="t"/>
          <a:lstStyle>
            <a:lvl1pPr marL="0" indent="0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indent="543665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indent="1087328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indent="1630994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indent="2174657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53114" y="294880"/>
            <a:ext cx="412698" cy="152401"/>
          </a:xfrm>
          <a:prstGeom prst="rect">
            <a:avLst/>
          </a:prstGeom>
          <a:solidFill>
            <a:srgbClr val="1D8EEA"/>
          </a:solidFill>
        </p:spPr>
        <p:txBody>
          <a:bodyPr wrap="square" lIns="0" tIns="0" rIns="0" bIns="0" anchor="ctr"/>
          <a:lstStyle>
            <a:lvl1pPr algn="ctr">
              <a:defRPr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S No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304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05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06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307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309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4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310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11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12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313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315" name="Rectangle 5"/>
          <p:cNvSpPr/>
          <p:nvPr/>
        </p:nvSpPr>
        <p:spPr>
          <a:xfrm>
            <a:off x="0" y="6204744"/>
            <a:ext cx="12192000" cy="65325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4" tIns="71434" rIns="71434" bIns="71434" anchor="ctr"/>
          <a:lstStyle/>
          <a:p>
            <a:pPr algn="ctr" defTabSz="543667">
              <a:defRPr sz="25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endParaRPr/>
          </a:p>
        </p:txBody>
      </p:sp>
      <p:sp>
        <p:nvSpPr>
          <p:cNvPr id="316" name="Title Text"/>
          <p:cNvSpPr txBox="1">
            <a:spLocks noGrp="1"/>
          </p:cNvSpPr>
          <p:nvPr>
            <p:ph type="title"/>
          </p:nvPr>
        </p:nvSpPr>
        <p:spPr>
          <a:xfrm>
            <a:off x="914400" y="283885"/>
            <a:ext cx="10363200" cy="566761"/>
          </a:xfrm>
          <a:prstGeom prst="rect">
            <a:avLst/>
          </a:prstGeom>
        </p:spPr>
        <p:txBody>
          <a:bodyPr lIns="108744" tIns="108744" rIns="108744" bIns="108744"/>
          <a:lstStyle>
            <a:lvl1pPr defTabSz="543665">
              <a:defRPr sz="3000" b="0">
                <a:solidFill>
                  <a:srgbClr val="1D8EE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Title Text</a:t>
            </a:r>
          </a:p>
        </p:txBody>
      </p:sp>
      <p:sp>
        <p:nvSpPr>
          <p:cNvPr id="31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26338" y="716525"/>
            <a:ext cx="10326626" cy="537942"/>
          </a:xfrm>
          <a:prstGeom prst="rect">
            <a:avLst/>
          </a:prstGeom>
        </p:spPr>
        <p:txBody>
          <a:bodyPr lIns="108744" tIns="108744" rIns="108744" bIns="108744" anchor="t"/>
          <a:lstStyle>
            <a:lvl1pPr marL="0" indent="0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indent="543665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indent="1087328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indent="1630994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indent="2174657" algn="ctr" defTabSz="543665">
              <a:lnSpc>
                <a:spcPct val="130000"/>
              </a:lnSpc>
              <a:spcBef>
                <a:spcPts val="300"/>
              </a:spcBef>
              <a:buSzTx/>
              <a:buNone/>
              <a:defRPr sz="1500">
                <a:solidFill>
                  <a:srgbClr val="79797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53114" y="294880"/>
            <a:ext cx="412698" cy="152401"/>
          </a:xfrm>
          <a:prstGeom prst="rect">
            <a:avLst/>
          </a:prstGeom>
          <a:solidFill>
            <a:srgbClr val="1D8EEA"/>
          </a:solidFill>
        </p:spPr>
        <p:txBody>
          <a:bodyPr wrap="square" lIns="0" tIns="0" rIns="0" bIns="0" anchor="ctr"/>
          <a:lstStyle>
            <a:lvl1pPr algn="ctr">
              <a:defRPr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Phon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325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26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27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328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330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35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331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32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33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334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336" name="Rectangle 5"/>
          <p:cNvSpPr/>
          <p:nvPr/>
        </p:nvSpPr>
        <p:spPr>
          <a:xfrm>
            <a:off x="0" y="6204744"/>
            <a:ext cx="12192000" cy="65325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4" tIns="71434" rIns="71434" bIns="71434" anchor="ctr"/>
          <a:lstStyle/>
          <a:p>
            <a:pPr algn="ctr" defTabSz="543667">
              <a:defRPr sz="25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endParaRPr/>
          </a:p>
        </p:txBody>
      </p:sp>
      <p:sp>
        <p:nvSpPr>
          <p:cNvPr id="337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932535" y="1320800"/>
            <a:ext cx="2445226" cy="432939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8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345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46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47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348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350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55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351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52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53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354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356" name="Picture Placeholder 12"/>
          <p:cNvSpPr>
            <a:spLocks noGrp="1"/>
          </p:cNvSpPr>
          <p:nvPr>
            <p:ph type="pic" sz="quarter" idx="21"/>
          </p:nvPr>
        </p:nvSpPr>
        <p:spPr>
          <a:xfrm>
            <a:off x="8212042" y="1853427"/>
            <a:ext cx="2940892" cy="388851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53114" y="294880"/>
            <a:ext cx="412698" cy="152401"/>
          </a:xfrm>
          <a:prstGeom prst="rect">
            <a:avLst/>
          </a:prstGeom>
          <a:solidFill>
            <a:srgbClr val="1D8EEA"/>
          </a:solidFill>
        </p:spPr>
        <p:txBody>
          <a:bodyPr wrap="square" lIns="0" tIns="0" rIns="0" bIns="0" anchor="ctr"/>
          <a:lstStyle>
            <a:lvl1pPr algn="ctr">
              <a:defRPr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Phone 6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364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65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66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367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369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74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370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71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72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373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375" name="Picture Placeholder 12"/>
          <p:cNvSpPr>
            <a:spLocks noGrp="1"/>
          </p:cNvSpPr>
          <p:nvPr>
            <p:ph type="pic" sz="quarter" idx="21"/>
          </p:nvPr>
        </p:nvSpPr>
        <p:spPr>
          <a:xfrm>
            <a:off x="5050687" y="2119728"/>
            <a:ext cx="2090557" cy="366682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53114" y="294880"/>
            <a:ext cx="412698" cy="152401"/>
          </a:xfrm>
          <a:prstGeom prst="rect">
            <a:avLst/>
          </a:prstGeom>
          <a:solidFill>
            <a:srgbClr val="1D8EEA"/>
          </a:solidFill>
        </p:spPr>
        <p:txBody>
          <a:bodyPr wrap="square" lIns="0" tIns="0" rIns="0" bIns="0" anchor="ctr"/>
          <a:lstStyle>
            <a:lvl1pPr algn="ctr">
              <a:defRPr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Pad 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383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84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85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386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388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93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389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90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391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392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394" name="Picture Placeholder 12"/>
          <p:cNvSpPr>
            <a:spLocks noGrp="1"/>
          </p:cNvSpPr>
          <p:nvPr>
            <p:ph type="pic" sz="half" idx="21"/>
          </p:nvPr>
        </p:nvSpPr>
        <p:spPr>
          <a:xfrm>
            <a:off x="4329160" y="2119728"/>
            <a:ext cx="3492192" cy="486453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53114" y="294880"/>
            <a:ext cx="412698" cy="152401"/>
          </a:xfrm>
          <a:prstGeom prst="rect">
            <a:avLst/>
          </a:prstGeom>
          <a:solidFill>
            <a:srgbClr val="1D8EEA"/>
          </a:solidFill>
        </p:spPr>
        <p:txBody>
          <a:bodyPr wrap="square" lIns="0" tIns="0" rIns="0" bIns="0" anchor="ctr"/>
          <a:lstStyle>
            <a:lvl1pPr algn="ctr">
              <a:defRPr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ac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402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403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404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405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407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12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408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409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410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411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41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107915" y="1889919"/>
            <a:ext cx="3958711" cy="249396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4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53114" y="294880"/>
            <a:ext cx="412698" cy="152401"/>
          </a:xfrm>
          <a:prstGeom prst="rect">
            <a:avLst/>
          </a:prstGeom>
          <a:solidFill>
            <a:srgbClr val="1D8EEA"/>
          </a:solidFill>
        </p:spPr>
        <p:txBody>
          <a:bodyPr wrap="square" lIns="0" tIns="0" rIns="0" bIns="0" anchor="ctr"/>
          <a:lstStyle>
            <a:lvl1pPr algn="ctr">
              <a:defRPr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sk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421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422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423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424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426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31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427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428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429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430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432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038074" y="1874839"/>
            <a:ext cx="3958710" cy="218916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4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53114" y="294880"/>
            <a:ext cx="412698" cy="152401"/>
          </a:xfrm>
          <a:prstGeom prst="rect">
            <a:avLst/>
          </a:prstGeom>
          <a:solidFill>
            <a:srgbClr val="1D8EEA"/>
          </a:solidFill>
        </p:spPr>
        <p:txBody>
          <a:bodyPr wrap="square" lIns="0" tIns="0" rIns="0" bIns="0" anchor="ctr"/>
          <a:lstStyle>
            <a:lvl1pPr algn="ctr">
              <a:defRPr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4" name="Group 3"/>
          <p:cNvGrpSpPr/>
          <p:nvPr/>
        </p:nvGrpSpPr>
        <p:grpSpPr>
          <a:xfrm>
            <a:off x="-14286" y="6802438"/>
            <a:ext cx="9814236" cy="90489"/>
            <a:chOff x="0" y="0"/>
            <a:chExt cx="9814235" cy="90488"/>
          </a:xfrm>
        </p:grpSpPr>
        <p:sp>
          <p:nvSpPr>
            <p:cNvPr id="440" name="Rectangle 6"/>
            <p:cNvSpPr/>
            <p:nvPr/>
          </p:nvSpPr>
          <p:spPr>
            <a:xfrm>
              <a:off x="0" y="-1"/>
              <a:ext cx="245316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441" name="Rectangle 7"/>
            <p:cNvSpPr/>
            <p:nvPr/>
          </p:nvSpPr>
          <p:spPr>
            <a:xfrm>
              <a:off x="2453163" y="-1"/>
              <a:ext cx="2453957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442" name="Rectangle 8"/>
            <p:cNvSpPr/>
            <p:nvPr/>
          </p:nvSpPr>
          <p:spPr>
            <a:xfrm>
              <a:off x="4907117" y="-1"/>
              <a:ext cx="2453162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443" name="Rectangle 9"/>
            <p:cNvSpPr/>
            <p:nvPr/>
          </p:nvSpPr>
          <p:spPr>
            <a:xfrm>
              <a:off x="7360279" y="-1"/>
              <a:ext cx="2453957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pic>
        <p:nvPicPr>
          <p:cNvPr id="445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1" y="6368493"/>
            <a:ext cx="1699363" cy="3051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50" name="Group 13"/>
          <p:cNvGrpSpPr/>
          <p:nvPr/>
        </p:nvGrpSpPr>
        <p:grpSpPr>
          <a:xfrm>
            <a:off x="9799949" y="6803825"/>
            <a:ext cx="2422846" cy="90489"/>
            <a:chOff x="0" y="0"/>
            <a:chExt cx="2422844" cy="90488"/>
          </a:xfrm>
        </p:grpSpPr>
        <p:sp>
          <p:nvSpPr>
            <p:cNvPr id="446" name="Rectangle 14"/>
            <p:cNvSpPr/>
            <p:nvPr/>
          </p:nvSpPr>
          <p:spPr>
            <a:xfrm>
              <a:off x="0" y="-1"/>
              <a:ext cx="605614" cy="90490"/>
            </a:xfrm>
            <a:prstGeom prst="rect">
              <a:avLst/>
            </a:prstGeom>
            <a:solidFill>
              <a:srgbClr val="00539F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447" name="Rectangle 15"/>
            <p:cNvSpPr/>
            <p:nvPr/>
          </p:nvSpPr>
          <p:spPr>
            <a:xfrm>
              <a:off x="605613" y="-1"/>
              <a:ext cx="605810" cy="90490"/>
            </a:xfrm>
            <a:prstGeom prst="rect">
              <a:avLst/>
            </a:prstGeom>
            <a:solidFill>
              <a:srgbClr val="A63493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  <p:sp>
          <p:nvSpPr>
            <p:cNvPr id="448" name="Rectangle 16"/>
            <p:cNvSpPr/>
            <p:nvPr/>
          </p:nvSpPr>
          <p:spPr>
            <a:xfrm>
              <a:off x="1211422" y="-1"/>
              <a:ext cx="605614" cy="90490"/>
            </a:xfrm>
            <a:prstGeom prst="rect">
              <a:avLst/>
            </a:prstGeom>
            <a:solidFill>
              <a:srgbClr val="ED174C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449" name="Rectangle 17"/>
            <p:cNvSpPr/>
            <p:nvPr/>
          </p:nvSpPr>
          <p:spPr>
            <a:xfrm>
              <a:off x="1817035" y="-1"/>
              <a:ext cx="605810" cy="90490"/>
            </a:xfrm>
            <a:prstGeom prst="rect">
              <a:avLst/>
            </a:prstGeom>
            <a:solidFill>
              <a:srgbClr val="00A2B2"/>
            </a:solidFill>
            <a:ln w="12700" cap="flat">
              <a:noFill/>
              <a:miter lim="400000"/>
            </a:ln>
            <a:effectLst/>
          </p:spPr>
          <p:txBody>
            <a:bodyPr wrap="square" lIns="71434" tIns="71434" rIns="71434" bIns="71434" numCol="1" anchor="ctr">
              <a:noAutofit/>
            </a:bodyPr>
            <a:lstStyle/>
            <a:p>
              <a:pPr algn="ctr" defTabSz="543667">
                <a:defRPr sz="25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endParaRPr/>
            </a:p>
          </p:txBody>
        </p:sp>
      </p:grpSp>
      <p:sp>
        <p:nvSpPr>
          <p:cNvPr id="451" name="Picture Placeholder 3"/>
          <p:cNvSpPr>
            <a:spLocks noGrp="1"/>
          </p:cNvSpPr>
          <p:nvPr>
            <p:ph type="pic" idx="21"/>
          </p:nvPr>
        </p:nvSpPr>
        <p:spPr>
          <a:xfrm>
            <a:off x="0" y="1659484"/>
            <a:ext cx="12192000" cy="295889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53114" y="294880"/>
            <a:ext cx="412698" cy="152401"/>
          </a:xfrm>
          <a:prstGeom prst="rect">
            <a:avLst/>
          </a:prstGeom>
          <a:solidFill>
            <a:srgbClr val="1D8EEA"/>
          </a:solidFill>
        </p:spPr>
        <p:txBody>
          <a:bodyPr wrap="square" lIns="0" tIns="0" rIns="0" bIns="0" anchor="ctr"/>
          <a:lstStyle>
            <a:lvl1pPr algn="ctr">
              <a:defRPr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itle Text"/>
          <p:cNvSpPr txBox="1">
            <a:spLocks noGrp="1"/>
          </p:cNvSpPr>
          <p:nvPr>
            <p:ph type="title"/>
          </p:nvPr>
        </p:nvSpPr>
        <p:spPr>
          <a:xfrm>
            <a:off x="2416968" y="1950640"/>
            <a:ext cx="7358065" cy="2321720"/>
          </a:xfrm>
          <a:prstGeom prst="rect">
            <a:avLst/>
          </a:prstGeom>
        </p:spPr>
        <p:txBody>
          <a:bodyPr/>
          <a:lstStyle>
            <a:lvl1pPr>
              <a:defRPr sz="5600" b="0">
                <a:solidFill>
                  <a:schemeClr val="accent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Title Text</a:t>
            </a:r>
          </a:p>
        </p:txBody>
      </p:sp>
      <p:pic>
        <p:nvPicPr>
          <p:cNvPr id="460" name="BuildingSMART_RGB_Australasia_colour.png" descr="BuildingSMART_RGB_Australasia_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84" y="5906530"/>
            <a:ext cx="3349432" cy="60140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65" name="Group"/>
          <p:cNvGrpSpPr/>
          <p:nvPr/>
        </p:nvGrpSpPr>
        <p:grpSpPr>
          <a:xfrm>
            <a:off x="-3" y="6768000"/>
            <a:ext cx="12192005" cy="90004"/>
            <a:chOff x="0" y="0"/>
            <a:chExt cx="12192004" cy="90003"/>
          </a:xfrm>
        </p:grpSpPr>
        <p:sp>
          <p:nvSpPr>
            <p:cNvPr id="461" name="Rectangle"/>
            <p:cNvSpPr/>
            <p:nvPr/>
          </p:nvSpPr>
          <p:spPr>
            <a:xfrm>
              <a:off x="6120001" y="-1"/>
              <a:ext cx="3060003" cy="90005"/>
            </a:xfrm>
            <a:prstGeom prst="rect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62" name="Rectangle"/>
            <p:cNvSpPr/>
            <p:nvPr/>
          </p:nvSpPr>
          <p:spPr>
            <a:xfrm>
              <a:off x="-1" y="-1"/>
              <a:ext cx="3060003" cy="90005"/>
            </a:xfrm>
            <a:prstGeom prst="rect">
              <a:avLst/>
            </a:prstGeom>
            <a:solidFill>
              <a:srgbClr val="4EA5C7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63" name="Rectangle"/>
            <p:cNvSpPr/>
            <p:nvPr/>
          </p:nvSpPr>
          <p:spPr>
            <a:xfrm>
              <a:off x="3060000" y="-1"/>
              <a:ext cx="3060003" cy="90005"/>
            </a:xfrm>
            <a:prstGeom prst="rect">
              <a:avLst/>
            </a:prstGeom>
            <a:gradFill flip="none" rotWithShape="1">
              <a:gsLst>
                <a:gs pos="0">
                  <a:srgbClr val="FA4813"/>
                </a:gs>
                <a:gs pos="100000">
                  <a:schemeClr val="accent5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64" name="Rectangle"/>
            <p:cNvSpPr/>
            <p:nvPr/>
          </p:nvSpPr>
          <p:spPr>
            <a:xfrm>
              <a:off x="9132001" y="-1"/>
              <a:ext cx="3060003" cy="90005"/>
            </a:xfrm>
            <a:prstGeom prst="rect">
              <a:avLst/>
            </a:prstGeom>
            <a:solidFill>
              <a:srgbClr val="174F86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4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7907" y="6505277"/>
            <a:ext cx="325040" cy="32067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Image"/>
          <p:cNvSpPr>
            <a:spLocks noGrp="1"/>
          </p:cNvSpPr>
          <p:nvPr>
            <p:ph type="pic" sz="half" idx="21"/>
          </p:nvPr>
        </p:nvSpPr>
        <p:spPr>
          <a:xfrm>
            <a:off x="6247805" y="446483"/>
            <a:ext cx="3750470" cy="578644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474" name="Title Text"/>
          <p:cNvSpPr txBox="1">
            <a:spLocks noGrp="1"/>
          </p:cNvSpPr>
          <p:nvPr>
            <p:ph type="title"/>
          </p:nvPr>
        </p:nvSpPr>
        <p:spPr>
          <a:xfrm>
            <a:off x="2193726" y="446483"/>
            <a:ext cx="3750471" cy="2803925"/>
          </a:xfrm>
          <a:prstGeom prst="rect">
            <a:avLst/>
          </a:prstGeom>
        </p:spPr>
        <p:txBody>
          <a:bodyPr anchor="b"/>
          <a:lstStyle>
            <a:lvl1pPr algn="l">
              <a:spcBef>
                <a:spcPts val="1800"/>
              </a:spcBef>
              <a:defRPr sz="30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47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193726" y="3348632"/>
            <a:ext cx="3750471" cy="288429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indent="0" algn="ctr">
              <a:spcBef>
                <a:spcPts val="0"/>
              </a:spcBef>
              <a:buSzTx/>
              <a:buNone/>
              <a:defRPr sz="2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indent="0" algn="ctr">
              <a:spcBef>
                <a:spcPts val="0"/>
              </a:spcBef>
              <a:buSzTx/>
              <a:buNone/>
              <a:defRPr sz="2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indent="0" algn="ctr">
              <a:spcBef>
                <a:spcPts val="0"/>
              </a:spcBef>
              <a:buSzTx/>
              <a:buNone/>
              <a:defRPr sz="2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indent="0" algn="ctr">
              <a:spcBef>
                <a:spcPts val="0"/>
              </a:spcBef>
              <a:buSzTx/>
              <a:buNone/>
              <a:defRPr sz="2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7907" y="6505277"/>
            <a:ext cx="325040" cy="32067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Body Level One…"/>
          <p:cNvSpPr txBox="1">
            <a:spLocks noGrp="1"/>
          </p:cNvSpPr>
          <p:nvPr>
            <p:ph type="body" idx="1"/>
          </p:nvPr>
        </p:nvSpPr>
        <p:spPr>
          <a:xfrm>
            <a:off x="1239538" y="892967"/>
            <a:ext cx="9853591" cy="50720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327B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>
              <a:defRPr>
                <a:solidFill>
                  <a:srgbClr val="5F327B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>
              <a:defRPr>
                <a:solidFill>
                  <a:srgbClr val="5F327B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>
              <a:defRPr>
                <a:solidFill>
                  <a:srgbClr val="5F327B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>
              <a:defRPr>
                <a:solidFill>
                  <a:srgbClr val="5F327B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7907" y="6505277"/>
            <a:ext cx="325040" cy="32067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Image"/>
          <p:cNvSpPr>
            <a:spLocks noGrp="1"/>
          </p:cNvSpPr>
          <p:nvPr>
            <p:ph type="pic" sz="quarter" idx="21"/>
          </p:nvPr>
        </p:nvSpPr>
        <p:spPr>
          <a:xfrm>
            <a:off x="6247805" y="3580805"/>
            <a:ext cx="3750470" cy="265212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492" name="Image"/>
          <p:cNvSpPr>
            <a:spLocks noGrp="1"/>
          </p:cNvSpPr>
          <p:nvPr>
            <p:ph type="pic" sz="quarter" idx="22"/>
          </p:nvPr>
        </p:nvSpPr>
        <p:spPr>
          <a:xfrm>
            <a:off x="6252176" y="625077"/>
            <a:ext cx="3750471" cy="265212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493" name="Image"/>
          <p:cNvSpPr>
            <a:spLocks noGrp="1"/>
          </p:cNvSpPr>
          <p:nvPr>
            <p:ph type="pic" sz="half" idx="23"/>
          </p:nvPr>
        </p:nvSpPr>
        <p:spPr>
          <a:xfrm>
            <a:off x="2193726" y="625077"/>
            <a:ext cx="3750471" cy="5607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4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7907" y="6505277"/>
            <a:ext cx="325040" cy="32067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Image"/>
          <p:cNvSpPr>
            <a:spLocks noGrp="1"/>
          </p:cNvSpPr>
          <p:nvPr>
            <p:ph type="pic" idx="21"/>
          </p:nvPr>
        </p:nvSpPr>
        <p:spPr>
          <a:xfrm>
            <a:off x="1524000" y="0"/>
            <a:ext cx="9144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5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7907" y="6505277"/>
            <a:ext cx="325040" cy="32067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Title Text"/>
          <p:cNvSpPr txBox="1">
            <a:spLocks noGrp="1"/>
          </p:cNvSpPr>
          <p:nvPr>
            <p:ph type="title"/>
          </p:nvPr>
        </p:nvSpPr>
        <p:spPr>
          <a:xfrm>
            <a:off x="2147886" y="857250"/>
            <a:ext cx="7886705" cy="3421859"/>
          </a:xfrm>
          <a:prstGeom prst="rect">
            <a:avLst/>
          </a:prstGeom>
        </p:spPr>
        <p:txBody>
          <a:bodyPr lIns="68579" tIns="68579" rIns="68579" bIns="68579" anchor="b"/>
          <a:lstStyle>
            <a:lvl1pPr algn="l" defTabSz="914400">
              <a:lnSpc>
                <a:spcPct val="90000"/>
              </a:lnSpc>
              <a:defRPr sz="5900" b="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2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147886" y="4299346"/>
            <a:ext cx="7886705" cy="1701406"/>
          </a:xfrm>
          <a:prstGeom prst="rect">
            <a:avLst/>
          </a:prstGeom>
        </p:spPr>
        <p:txBody>
          <a:bodyPr lIns="68579" tIns="68579" rIns="68579" bIns="68579" anchor="t"/>
          <a:lstStyle>
            <a:lvl1pPr marL="0" indent="0" defTabSz="914400">
              <a:lnSpc>
                <a:spcPct val="90000"/>
              </a:lnSpc>
              <a:spcBef>
                <a:spcPts val="1000"/>
              </a:spcBef>
              <a:buSzTx/>
              <a:buNone/>
              <a:defRPr sz="23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  <a:lvl2pPr marL="0" indent="0" defTabSz="914400">
              <a:lnSpc>
                <a:spcPct val="90000"/>
              </a:lnSpc>
              <a:spcBef>
                <a:spcPts val="1000"/>
              </a:spcBef>
              <a:buSzTx/>
              <a:buNone/>
              <a:defRPr sz="23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2pPr>
            <a:lvl3pPr marL="0" indent="0" defTabSz="914400">
              <a:lnSpc>
                <a:spcPct val="90000"/>
              </a:lnSpc>
              <a:spcBef>
                <a:spcPts val="1000"/>
              </a:spcBef>
              <a:buSzTx/>
              <a:buNone/>
              <a:defRPr sz="23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3pPr>
            <a:lvl4pPr marL="0" indent="0" defTabSz="914400">
              <a:lnSpc>
                <a:spcPct val="90000"/>
              </a:lnSpc>
              <a:spcBef>
                <a:spcPts val="1000"/>
              </a:spcBef>
              <a:buSzTx/>
              <a:buNone/>
              <a:defRPr sz="23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4pPr>
            <a:lvl5pPr marL="0" indent="0" defTabSz="914400">
              <a:lnSpc>
                <a:spcPct val="90000"/>
              </a:lnSpc>
              <a:spcBef>
                <a:spcPts val="1000"/>
              </a:spcBef>
              <a:buSzTx/>
              <a:buNone/>
              <a:defRPr sz="23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039350" y="5610305"/>
            <a:ext cx="291469" cy="302259"/>
          </a:xfrm>
          <a:prstGeom prst="rect">
            <a:avLst/>
          </a:prstGeom>
        </p:spPr>
        <p:txBody>
          <a:bodyPr lIns="68579" tIns="68579" rIns="68579" bIns="68579" anchor="ctr"/>
          <a:lstStyle>
            <a:lvl1pPr>
              <a:defRPr sz="11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.1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3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ree Blank,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2652" y="6163313"/>
            <a:ext cx="344550" cy="386074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r" defTabSz="1031625">
              <a:defRPr>
                <a:latin typeface="Roboto Condensed Regular"/>
                <a:ea typeface="Roboto Condensed Regular"/>
                <a:cs typeface="Roboto Condensed Regular"/>
                <a:sym typeface="Roboto Condensed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Title Text"/>
          <p:cNvSpPr txBox="1">
            <a:spLocks noGrp="1"/>
          </p:cNvSpPr>
          <p:nvPr>
            <p:ph type="title"/>
          </p:nvPr>
        </p:nvSpPr>
        <p:spPr>
          <a:xfrm>
            <a:off x="3276600" y="855378"/>
            <a:ext cx="5638800" cy="353527"/>
          </a:xfrm>
          <a:prstGeom prst="rect">
            <a:avLst/>
          </a:prstGeom>
        </p:spPr>
        <p:txBody>
          <a:bodyPr lIns="0" tIns="0" rIns="0" bIns="0"/>
          <a:lstStyle>
            <a:lvl1pPr defTabSz="914400">
              <a:defRPr sz="2000" b="0">
                <a:solidFill>
                  <a:srgbClr val="80808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55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38600" y="1207369"/>
            <a:ext cx="4114800" cy="200750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914400">
              <a:spcBef>
                <a:spcPts val="200"/>
              </a:spcBef>
              <a:buSzTx/>
              <a:buNone/>
              <a:defRPr sz="1100">
                <a:solidFill>
                  <a:srgbClr val="BFBF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defRPr>
            </a:lvl1pPr>
            <a:lvl2pPr marL="0" indent="0" algn="ctr" defTabSz="914400">
              <a:spcBef>
                <a:spcPts val="200"/>
              </a:spcBef>
              <a:buSzTx/>
              <a:buNone/>
              <a:defRPr sz="1100">
                <a:solidFill>
                  <a:srgbClr val="BFBF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defRPr>
            </a:lvl2pPr>
            <a:lvl3pPr marL="0" indent="0" algn="ctr" defTabSz="914400">
              <a:spcBef>
                <a:spcPts val="200"/>
              </a:spcBef>
              <a:buSzTx/>
              <a:buNone/>
              <a:defRPr sz="1100">
                <a:solidFill>
                  <a:srgbClr val="BFBF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defRPr>
            </a:lvl3pPr>
            <a:lvl4pPr marL="0" indent="0" algn="ctr" defTabSz="914400">
              <a:spcBef>
                <a:spcPts val="200"/>
              </a:spcBef>
              <a:buSzTx/>
              <a:buNone/>
              <a:defRPr sz="1100">
                <a:solidFill>
                  <a:srgbClr val="BFBF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defRPr>
            </a:lvl4pPr>
            <a:lvl5pPr marL="0" indent="0" algn="ctr" defTabSz="914400">
              <a:spcBef>
                <a:spcPts val="200"/>
              </a:spcBef>
              <a:buSzTx/>
              <a:buNone/>
              <a:defRPr sz="1100">
                <a:solidFill>
                  <a:srgbClr val="BFBF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355711" y="6191832"/>
            <a:ext cx="309036" cy="322573"/>
          </a:xfrm>
          <a:prstGeom prst="rect">
            <a:avLst/>
          </a:prstGeom>
        </p:spPr>
        <p:txBody>
          <a:bodyPr lIns="91436" tIns="91436" rIns="91436" bIns="91436" anchor="ctr"/>
          <a:lstStyle>
            <a:lvl1pPr defTabSz="1031625">
              <a:defRPr sz="900">
                <a:solidFill>
                  <a:srgbClr val="80808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BuildingSMART_RGB_Australasia_colour.png" descr="BuildingSMART_RGB_Australasia_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256" y="6362710"/>
            <a:ext cx="1622211" cy="2912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63" name="Group"/>
          <p:cNvGrpSpPr/>
          <p:nvPr/>
        </p:nvGrpSpPr>
        <p:grpSpPr>
          <a:xfrm>
            <a:off x="-3" y="6768000"/>
            <a:ext cx="12192005" cy="90004"/>
            <a:chOff x="0" y="0"/>
            <a:chExt cx="12192004" cy="90003"/>
          </a:xfrm>
        </p:grpSpPr>
        <p:sp>
          <p:nvSpPr>
            <p:cNvPr id="559" name="Rectangle"/>
            <p:cNvSpPr/>
            <p:nvPr/>
          </p:nvSpPr>
          <p:spPr>
            <a:xfrm>
              <a:off x="6120001" y="-1"/>
              <a:ext cx="3060003" cy="90005"/>
            </a:xfrm>
            <a:prstGeom prst="rect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60" name="Rectangle"/>
            <p:cNvSpPr/>
            <p:nvPr/>
          </p:nvSpPr>
          <p:spPr>
            <a:xfrm>
              <a:off x="-1" y="-1"/>
              <a:ext cx="3060003" cy="90005"/>
            </a:xfrm>
            <a:prstGeom prst="rect">
              <a:avLst/>
            </a:prstGeom>
            <a:solidFill>
              <a:srgbClr val="4EA5C7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61" name="Rectangle"/>
            <p:cNvSpPr/>
            <p:nvPr/>
          </p:nvSpPr>
          <p:spPr>
            <a:xfrm>
              <a:off x="3060000" y="-1"/>
              <a:ext cx="3060003" cy="90005"/>
            </a:xfrm>
            <a:prstGeom prst="rect">
              <a:avLst/>
            </a:prstGeom>
            <a:gradFill flip="none" rotWithShape="1">
              <a:gsLst>
                <a:gs pos="0">
                  <a:srgbClr val="FA4813"/>
                </a:gs>
                <a:gs pos="100000">
                  <a:schemeClr val="accent5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62" name="Rectangle"/>
            <p:cNvSpPr/>
            <p:nvPr/>
          </p:nvSpPr>
          <p:spPr>
            <a:xfrm>
              <a:off x="9132001" y="-1"/>
              <a:ext cx="3060003" cy="90005"/>
            </a:xfrm>
            <a:prstGeom prst="rect">
              <a:avLst/>
            </a:prstGeom>
            <a:solidFill>
              <a:srgbClr val="174F86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564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56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2400"/>
            </a:lvl1pPr>
            <a:lvl2pPr marL="0" indent="457200" algn="ctr">
              <a:buSzTx/>
              <a:buNone/>
              <a:defRPr sz="2400"/>
            </a:lvl2pPr>
            <a:lvl3pPr marL="0" indent="914400" algn="ctr">
              <a:buSzTx/>
              <a:buNone/>
              <a:defRPr sz="2400"/>
            </a:lvl3pPr>
            <a:lvl4pPr marL="0" indent="1371600" algn="ctr">
              <a:buSzTx/>
              <a:buNone/>
              <a:defRPr sz="2400"/>
            </a:lvl4pPr>
            <a:lvl5pPr marL="0" indent="1828800" algn="ctr"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r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95466" y="2708919"/>
            <a:ext cx="6240695" cy="57591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 marL="567971" indent="-345722">
              <a:defRPr sz="2800">
                <a:solidFill>
                  <a:srgbClr val="002060"/>
                </a:solidFill>
              </a:defRPr>
            </a:lvl2pPr>
            <a:lvl3pPr marL="790221" indent="-345721">
              <a:defRPr sz="2800">
                <a:solidFill>
                  <a:srgbClr val="002060"/>
                </a:solidFill>
              </a:defRPr>
            </a:lvl3pPr>
            <a:lvl4pPr marL="1012471" indent="-345721">
              <a:defRPr sz="2800">
                <a:solidFill>
                  <a:srgbClr val="002060"/>
                </a:solidFill>
              </a:defRPr>
            </a:lvl4pPr>
            <a:lvl5pPr marL="1234721" indent="-345721">
              <a:defRPr sz="2800">
                <a:solidFill>
                  <a:srgbClr val="002060"/>
                </a:solidFill>
              </a:defRPr>
            </a:lvl5pPr>
          </a:lstStyle>
          <a:p>
            <a:r>
              <a:t>Section header to go here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ildingSMART_RGB_Australasia_colour.png" descr="BuildingSMART_RGB_Australasia_colour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371256" y="6362710"/>
            <a:ext cx="1622211" cy="2912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" name="Group"/>
          <p:cNvGrpSpPr/>
          <p:nvPr/>
        </p:nvGrpSpPr>
        <p:grpSpPr>
          <a:xfrm>
            <a:off x="-3" y="6768000"/>
            <a:ext cx="12192005" cy="90004"/>
            <a:chOff x="0" y="0"/>
            <a:chExt cx="12192004" cy="90003"/>
          </a:xfrm>
        </p:grpSpPr>
        <p:sp>
          <p:nvSpPr>
            <p:cNvPr id="3" name="Rectangle"/>
            <p:cNvSpPr/>
            <p:nvPr/>
          </p:nvSpPr>
          <p:spPr>
            <a:xfrm>
              <a:off x="6120001" y="-1"/>
              <a:ext cx="3060003" cy="90005"/>
            </a:xfrm>
            <a:prstGeom prst="rect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Rectangle"/>
            <p:cNvSpPr/>
            <p:nvPr/>
          </p:nvSpPr>
          <p:spPr>
            <a:xfrm>
              <a:off x="-1" y="-1"/>
              <a:ext cx="3060003" cy="90005"/>
            </a:xfrm>
            <a:prstGeom prst="rect">
              <a:avLst/>
            </a:prstGeom>
            <a:solidFill>
              <a:srgbClr val="4EA5C7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" name="Rectangle"/>
            <p:cNvSpPr/>
            <p:nvPr/>
          </p:nvSpPr>
          <p:spPr>
            <a:xfrm>
              <a:off x="3060000" y="-1"/>
              <a:ext cx="3060003" cy="90005"/>
            </a:xfrm>
            <a:prstGeom prst="rect">
              <a:avLst/>
            </a:prstGeom>
            <a:gradFill flip="none" rotWithShape="1">
              <a:gsLst>
                <a:gs pos="0">
                  <a:srgbClr val="FA4813"/>
                </a:gs>
                <a:gs pos="100000">
                  <a:schemeClr val="accent5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" name="Rectangle"/>
            <p:cNvSpPr/>
            <p:nvPr/>
          </p:nvSpPr>
          <p:spPr>
            <a:xfrm>
              <a:off x="9132001" y="-1"/>
              <a:ext cx="3060003" cy="90005"/>
            </a:xfrm>
            <a:prstGeom prst="rect">
              <a:avLst/>
            </a:prstGeom>
            <a:solidFill>
              <a:srgbClr val="174F86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71434" tIns="71434" rIns="71434" bIns="71434" numCol="1" anchor="ctr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8" name="Title Text"/>
          <p:cNvSpPr txBox="1">
            <a:spLocks noGrp="1"/>
          </p:cNvSpPr>
          <p:nvPr>
            <p:ph type="title"/>
          </p:nvPr>
        </p:nvSpPr>
        <p:spPr>
          <a:xfrm>
            <a:off x="609600" y="428625"/>
            <a:ext cx="10195860" cy="989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4" tIns="71434" rIns="71434" bIns="71434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9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195860" cy="4210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4" tIns="71434" rIns="71434" bIns="71434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13972" y="6356350"/>
            <a:ext cx="325040" cy="320670"/>
          </a:xfrm>
          <a:prstGeom prst="rect">
            <a:avLst/>
          </a:prstGeom>
          <a:ln w="12700">
            <a:miter lim="400000"/>
          </a:ln>
        </p:spPr>
        <p:txBody>
          <a:bodyPr wrap="none" lIns="71434" tIns="71434" rIns="71434" bIns="71434">
            <a:spAutoFit/>
          </a:bodyPr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</p:sldLayoutIdLst>
  <p:transition spd="med"/>
  <p:txStyles>
    <p:titleStyle>
      <a:lvl1pPr marL="0" marR="0" indent="0" algn="ctr" defTabSz="41076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1076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1076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1076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1076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1076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1076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1076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1076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08680" marR="0" indent="-308680" algn="l" defTabSz="410764" rtl="0" latinLnBrk="0">
        <a:lnSpc>
          <a:spcPct val="100000"/>
        </a:lnSpc>
        <a:spcBef>
          <a:spcPts val="2900"/>
        </a:spcBef>
        <a:spcAft>
          <a:spcPts val="0"/>
        </a:spcAft>
        <a:buClrTx/>
        <a:buSzPct val="75000"/>
        <a:buFontTx/>
        <a:buChar char="•"/>
        <a:tabLst/>
        <a:defRPr sz="2500" b="0" i="0" u="none" strike="noStrike" cap="none" spc="0" baseline="0">
          <a:solidFill>
            <a:srgbClr val="53585F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530929" marR="0" indent="-308680" algn="l" defTabSz="410764" rtl="0" latinLnBrk="0">
        <a:lnSpc>
          <a:spcPct val="100000"/>
        </a:lnSpc>
        <a:spcBef>
          <a:spcPts val="2900"/>
        </a:spcBef>
        <a:spcAft>
          <a:spcPts val="0"/>
        </a:spcAft>
        <a:buClrTx/>
        <a:buSzPct val="75000"/>
        <a:buFontTx/>
        <a:buChar char="•"/>
        <a:tabLst/>
        <a:defRPr sz="2500" b="0" i="0" u="none" strike="noStrike" cap="none" spc="0" baseline="0">
          <a:solidFill>
            <a:srgbClr val="53585F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753179" marR="0" indent="-308679" algn="l" defTabSz="410764" rtl="0" latinLnBrk="0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-"/>
        <a:tabLst/>
        <a:defRPr sz="2500" b="0" i="0" u="none" strike="noStrike" cap="none" spc="0" baseline="0">
          <a:solidFill>
            <a:srgbClr val="53585F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975429" marR="0" indent="-308679" algn="l" defTabSz="410764" rtl="0" latinLnBrk="0">
        <a:lnSpc>
          <a:spcPct val="100000"/>
        </a:lnSpc>
        <a:spcBef>
          <a:spcPts val="2900"/>
        </a:spcBef>
        <a:spcAft>
          <a:spcPts val="0"/>
        </a:spcAft>
        <a:buClrTx/>
        <a:buSzPct val="75000"/>
        <a:buFontTx/>
        <a:buChar char="•"/>
        <a:tabLst/>
        <a:defRPr sz="2500" b="0" i="0" u="none" strike="noStrike" cap="none" spc="0" baseline="0">
          <a:solidFill>
            <a:srgbClr val="53585F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1197679" marR="0" indent="-308679" algn="l" defTabSz="410764" rtl="0" latinLnBrk="0">
        <a:lnSpc>
          <a:spcPct val="100000"/>
        </a:lnSpc>
        <a:spcBef>
          <a:spcPts val="2900"/>
        </a:spcBef>
        <a:spcAft>
          <a:spcPts val="0"/>
        </a:spcAft>
        <a:buClrTx/>
        <a:buSzPct val="75000"/>
        <a:buFontTx/>
        <a:buChar char="•"/>
        <a:tabLst/>
        <a:defRPr sz="2500" b="0" i="0" u="none" strike="noStrike" cap="none" spc="0" baseline="0">
          <a:solidFill>
            <a:srgbClr val="53585F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1419929" marR="0" indent="-308679" algn="l" defTabSz="410764" rtl="0" latinLnBrk="0">
        <a:lnSpc>
          <a:spcPct val="100000"/>
        </a:lnSpc>
        <a:spcBef>
          <a:spcPts val="2900"/>
        </a:spcBef>
        <a:spcAft>
          <a:spcPts val="0"/>
        </a:spcAft>
        <a:buClrTx/>
        <a:buSzPct val="75000"/>
        <a:buFontTx/>
        <a:buChar char="•"/>
        <a:tabLst/>
        <a:defRPr sz="2500" b="0" i="0" u="none" strike="noStrike" cap="none" spc="0" baseline="0">
          <a:solidFill>
            <a:srgbClr val="53585F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1642180" marR="0" indent="-308679" algn="l" defTabSz="410764" rtl="0" latinLnBrk="0">
        <a:lnSpc>
          <a:spcPct val="100000"/>
        </a:lnSpc>
        <a:spcBef>
          <a:spcPts val="2900"/>
        </a:spcBef>
        <a:spcAft>
          <a:spcPts val="0"/>
        </a:spcAft>
        <a:buClrTx/>
        <a:buSzPct val="75000"/>
        <a:buFontTx/>
        <a:buChar char="•"/>
        <a:tabLst/>
        <a:defRPr sz="2500" b="0" i="0" u="none" strike="noStrike" cap="none" spc="0" baseline="0">
          <a:solidFill>
            <a:srgbClr val="53585F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1864430" marR="0" indent="-308679" algn="l" defTabSz="410764" rtl="0" latinLnBrk="0">
        <a:lnSpc>
          <a:spcPct val="100000"/>
        </a:lnSpc>
        <a:spcBef>
          <a:spcPts val="2900"/>
        </a:spcBef>
        <a:spcAft>
          <a:spcPts val="0"/>
        </a:spcAft>
        <a:buClrTx/>
        <a:buSzPct val="75000"/>
        <a:buFontTx/>
        <a:buChar char="•"/>
        <a:tabLst/>
        <a:defRPr sz="2500" b="0" i="0" u="none" strike="noStrike" cap="none" spc="0" baseline="0">
          <a:solidFill>
            <a:srgbClr val="53585F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2086680" marR="0" indent="-308680" algn="l" defTabSz="410764" rtl="0" latinLnBrk="0">
        <a:lnSpc>
          <a:spcPct val="100000"/>
        </a:lnSpc>
        <a:spcBef>
          <a:spcPts val="2900"/>
        </a:spcBef>
        <a:spcAft>
          <a:spcPts val="0"/>
        </a:spcAft>
        <a:buClrTx/>
        <a:buSzPct val="75000"/>
        <a:buFontTx/>
        <a:buChar char="•"/>
        <a:tabLst/>
        <a:defRPr sz="2500" b="0" i="0" u="none" strike="noStrike" cap="none" spc="0" baseline="0">
          <a:solidFill>
            <a:srgbClr val="53585F"/>
          </a:solidFill>
          <a:uFillTx/>
          <a:latin typeface="Calibri Light"/>
          <a:ea typeface="Calibri Light"/>
          <a:cs typeface="Calibri Light"/>
          <a:sym typeface="Calibri Light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mailto:john.mitchell@cqr.net.au" TargetMode="External"/><Relationship Id="rId2" Type="http://schemas.openxmlformats.org/officeDocument/2006/relationships/hyperlink" Target="mailto:scott@geometrygym.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ti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3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lanningportal.nsw.gov.au/spatialviewer/#/find-a-property/address" TargetMode="External"/><Relationship Id="rId2" Type="http://schemas.openxmlformats.org/officeDocument/2006/relationships/hyperlink" Target="https://pp.planningportal.nsw.gov.au/development-and-assessment/basix/about-basix/dwelling-types/multi-dwelling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Digital Infrastructure Network:…"/>
          <p:cNvSpPr txBox="1">
            <a:spLocks noGrp="1"/>
          </p:cNvSpPr>
          <p:nvPr>
            <p:ph type="body" idx="1"/>
          </p:nvPr>
        </p:nvSpPr>
        <p:spPr>
          <a:xfrm>
            <a:off x="1297641" y="750821"/>
            <a:ext cx="9554135" cy="5523552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defTabSz="357365">
              <a:lnSpc>
                <a:spcPct val="90000"/>
              </a:lnSpc>
              <a:defRPr sz="435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Improve Productivity using </a:t>
            </a:r>
            <a:r>
              <a:rPr lang="en-AU" dirty="0"/>
              <a:t>OpenBIM IFC</a:t>
            </a:r>
            <a:r>
              <a:rPr dirty="0"/>
              <a:t> </a:t>
            </a:r>
            <a:r>
              <a:rPr lang="en-AU" dirty="0"/>
              <a:t>for</a:t>
            </a:r>
            <a:r>
              <a:rPr dirty="0"/>
              <a:t> B</a:t>
            </a:r>
            <a:r>
              <a:rPr lang="en-AU" dirty="0"/>
              <a:t>ASIX compliance</a:t>
            </a:r>
            <a:endParaRPr dirty="0"/>
          </a:p>
          <a:p>
            <a:pPr defTabSz="357365">
              <a:lnSpc>
                <a:spcPct val="90000"/>
              </a:lnSpc>
              <a:defRPr sz="2784" b="1">
                <a:latin typeface="Gill Sans MT"/>
                <a:ea typeface="Gill Sans MT"/>
                <a:cs typeface="Gill Sans MT"/>
                <a:sym typeface="Gill Sans MT"/>
              </a:defRPr>
            </a:pPr>
            <a:endParaRPr dirty="0"/>
          </a:p>
          <a:p>
            <a:pPr defTabSz="357365">
              <a:lnSpc>
                <a:spcPct val="90000"/>
              </a:lnSpc>
              <a:defRPr sz="2784" b="1">
                <a:latin typeface="Gill Sans MT"/>
                <a:ea typeface="Gill Sans MT"/>
                <a:cs typeface="Gill Sans MT"/>
                <a:sym typeface="Gill Sans MT"/>
              </a:defRPr>
            </a:pPr>
            <a:endParaRPr dirty="0"/>
          </a:p>
          <a:p>
            <a:pPr defTabSz="357365">
              <a:lnSpc>
                <a:spcPct val="90000"/>
              </a:lnSpc>
              <a:defRPr sz="2784" b="1">
                <a:latin typeface="Gill Sans MT"/>
                <a:ea typeface="Gill Sans MT"/>
                <a:cs typeface="Gill Sans MT"/>
                <a:sym typeface="Gill Sans MT"/>
              </a:defRPr>
            </a:pPr>
            <a:endParaRPr dirty="0"/>
          </a:p>
          <a:p>
            <a:pPr defTabSz="357365">
              <a:lnSpc>
                <a:spcPct val="90000"/>
              </a:lnSpc>
              <a:defRPr sz="2784" b="1">
                <a:latin typeface="Gill Sans MT"/>
                <a:ea typeface="Gill Sans MT"/>
                <a:cs typeface="Gill Sans MT"/>
                <a:sym typeface="Gill Sans MT"/>
              </a:defRPr>
            </a:pPr>
            <a:endParaRPr dirty="0"/>
          </a:p>
          <a:p>
            <a:pPr defTabSz="357365">
              <a:lnSpc>
                <a:spcPct val="90000"/>
              </a:lnSpc>
              <a:defRPr sz="2784" b="1">
                <a:latin typeface="Gill Sans MT"/>
                <a:ea typeface="Gill Sans MT"/>
                <a:cs typeface="Gill Sans MT"/>
                <a:sym typeface="Gill Sans MT"/>
              </a:defRPr>
            </a:pPr>
            <a:endParaRPr dirty="0"/>
          </a:p>
          <a:p>
            <a:pPr defTabSz="357365">
              <a:lnSpc>
                <a:spcPct val="90000"/>
              </a:lnSpc>
              <a:defRPr sz="2349"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lang="en-AU" dirty="0"/>
              <a:t>Online Meeting</a:t>
            </a:r>
            <a:endParaRPr dirty="0"/>
          </a:p>
          <a:p>
            <a:pPr defTabSz="357365">
              <a:lnSpc>
                <a:spcPct val="90000"/>
              </a:lnSpc>
              <a:defRPr sz="2349" i="1"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AU" dirty="0"/>
              <a:t>14th</a:t>
            </a:r>
            <a:r>
              <a:rPr dirty="0"/>
              <a:t> </a:t>
            </a:r>
            <a:r>
              <a:rPr lang="en-AU" dirty="0"/>
              <a:t>January</a:t>
            </a:r>
            <a:r>
              <a:rPr dirty="0"/>
              <a:t> 202</a:t>
            </a:r>
            <a:r>
              <a:rPr lang="en-AU" dirty="0"/>
              <a:t>6</a:t>
            </a:r>
            <a:endParaRPr sz="4785" dirty="0"/>
          </a:p>
          <a:p>
            <a:pPr defTabSz="357365">
              <a:lnSpc>
                <a:spcPct val="90000"/>
              </a:lnSpc>
              <a:defRPr sz="2784" b="1">
                <a:latin typeface="Gill Sans MT"/>
                <a:ea typeface="Gill Sans MT"/>
                <a:cs typeface="Gill Sans MT"/>
                <a:sym typeface="Gill Sans MT"/>
              </a:defRPr>
            </a:pPr>
            <a:endParaRPr sz="4785" dirty="0"/>
          </a:p>
          <a:p>
            <a:pPr defTabSz="357365">
              <a:lnSpc>
                <a:spcPct val="90000"/>
              </a:lnSpc>
              <a:defRPr sz="2784" b="1">
                <a:latin typeface="Gill Sans MT"/>
                <a:ea typeface="Gill Sans MT"/>
                <a:cs typeface="Gill Sans MT"/>
                <a:sym typeface="Gill Sans MT"/>
              </a:defRPr>
            </a:pPr>
            <a:endParaRPr sz="4785" dirty="0"/>
          </a:p>
          <a:p>
            <a:pPr defTabSz="357365">
              <a:lnSpc>
                <a:spcPct val="90000"/>
              </a:lnSpc>
              <a:defRPr sz="2088" b="1"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b="0" dirty="0"/>
              <a:t>John Mitchell:</a:t>
            </a:r>
            <a:r>
              <a:rPr dirty="0"/>
              <a:t> </a:t>
            </a:r>
            <a:r>
              <a:rPr b="0" dirty="0">
                <a:latin typeface="Gill Sans Light"/>
                <a:ea typeface="Gill Sans Light"/>
                <a:cs typeface="Gill Sans Light"/>
                <a:sym typeface="Gill Sans Light"/>
              </a:rPr>
              <a:t>CQR</a:t>
            </a:r>
          </a:p>
          <a:p>
            <a:pPr defTabSz="357365">
              <a:lnSpc>
                <a:spcPct val="90000"/>
              </a:lnSpc>
              <a:defRPr sz="2088" b="1"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b="0" dirty="0"/>
              <a:t>Scott Beazley:</a:t>
            </a:r>
            <a:r>
              <a:rPr dirty="0"/>
              <a:t> </a:t>
            </a:r>
            <a:r>
              <a:rPr b="0" dirty="0" err="1">
                <a:latin typeface="Gill Sans Light"/>
                <a:ea typeface="Gill Sans Light"/>
                <a:cs typeface="Gill Sans Light"/>
                <a:sym typeface="Gill Sans Light"/>
              </a:rPr>
              <a:t>GeometryGym</a:t>
            </a:r>
            <a:endParaRPr b="0" dirty="0">
              <a:latin typeface="Gill Sans Light"/>
              <a:ea typeface="Gill Sans Light"/>
              <a:cs typeface="Gill Sans Light"/>
              <a:sym typeface="Gill Sans Light"/>
            </a:endParaRPr>
          </a:p>
        </p:txBody>
      </p:sp>
      <p:sp>
        <p:nvSpPr>
          <p:cNvPr id="584" name="v6"/>
          <p:cNvSpPr txBox="1"/>
          <p:nvPr/>
        </p:nvSpPr>
        <p:spPr>
          <a:xfrm>
            <a:off x="5953480" y="6130739"/>
            <a:ext cx="272503" cy="313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4" tIns="71434" rIns="71434" bIns="71434" anchor="ctr">
            <a:spAutoFit/>
          </a:bodyPr>
          <a:lstStyle>
            <a:lvl1pPr>
              <a:defRPr sz="1100">
                <a:latin typeface="Gill Sans Light"/>
                <a:ea typeface="Gill Sans Light"/>
                <a:cs typeface="Gill Sans Light"/>
                <a:sym typeface="Gill Sans Light"/>
              </a:defRPr>
            </a:lvl1pPr>
          </a:lstStyle>
          <a:p>
            <a:r>
              <a:rPr dirty="0"/>
              <a:t>v</a:t>
            </a:r>
            <a:r>
              <a:rPr lang="en-AU" dirty="0"/>
              <a:t>1</a:t>
            </a:r>
            <a:endParaRPr dirty="0"/>
          </a:p>
        </p:txBody>
      </p:sp>
      <p:pic>
        <p:nvPicPr>
          <p:cNvPr id="7" name="Picture 6" descr="A house with a garden&#10;&#10;AI-generated content may be incorrect.">
            <a:extLst>
              <a:ext uri="{FF2B5EF4-FFF2-40B4-BE49-F238E27FC236}">
                <a16:creationId xmlns:a16="http://schemas.microsoft.com/office/drawing/2014/main" id="{079DB8D8-2E46-D1B8-3C12-327B6F3BFB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2" t="6108" r="19772"/>
          <a:stretch>
            <a:fillRect/>
          </a:stretch>
        </p:blipFill>
        <p:spPr>
          <a:xfrm>
            <a:off x="8293445" y="2527013"/>
            <a:ext cx="3551469" cy="25472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07A4FF-F841-DA75-82E4-2DED942454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37"/>
          <a:stretch>
            <a:fillRect/>
          </a:stretch>
        </p:blipFill>
        <p:spPr>
          <a:xfrm>
            <a:off x="347086" y="2872974"/>
            <a:ext cx="4011703" cy="185532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02E9B-F6A0-6AB0-8D13-86E815F61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DC4311-586E-A578-654A-E754B43159F5}"/>
              </a:ext>
            </a:extLst>
          </p:cNvPr>
          <p:cNvSpPr txBox="1"/>
          <p:nvPr/>
        </p:nvSpPr>
        <p:spPr>
          <a:xfrm>
            <a:off x="655662" y="506395"/>
            <a:ext cx="11288806" cy="54072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4" tIns="71434" rIns="71434" bIns="71434" numCol="1" spcCol="38100" rtlCol="0" anchor="ctr">
            <a:spAutoFit/>
          </a:bodyPr>
          <a:lstStyle/>
          <a:p>
            <a:r>
              <a:rPr lang="en-AU" b="1" dirty="0">
                <a:latin typeface="Aptos Display" panose="020B0004020202020204" pitchFamily="34" charset="0"/>
              </a:rPr>
              <a:t>Digital possibilities for efficiency and productivity gain</a:t>
            </a:r>
          </a:p>
          <a:p>
            <a:r>
              <a:rPr lang="en-AU" dirty="0">
                <a:latin typeface="Aptos Display" panose="020B0004020202020204" pitchFamily="34" charset="0"/>
              </a:rPr>
              <a:t>An example from housing in NSW</a:t>
            </a:r>
          </a:p>
          <a:p>
            <a:r>
              <a:rPr lang="en-AU" dirty="0">
                <a:latin typeface="Aptos Display" panose="020B0004020202020204" pitchFamily="34" charset="0"/>
              </a:rPr>
              <a:t>NCC structure</a:t>
            </a:r>
          </a:p>
          <a:p>
            <a:endParaRPr lang="en-AU" dirty="0">
              <a:latin typeface="Aptos Display" panose="020B0004020202020204" pitchFamily="34" charset="0"/>
            </a:endParaRPr>
          </a:p>
          <a:p>
            <a:r>
              <a:rPr lang="en-AU" dirty="0">
                <a:latin typeface="Aptos Display" panose="020B0004020202020204" pitchFamily="34" charset="0"/>
              </a:rPr>
              <a:t>NSW  variations</a:t>
            </a:r>
          </a:p>
          <a:p>
            <a:r>
              <a:rPr lang="en-AU" dirty="0">
                <a:latin typeface="Aptos Display" panose="020B0004020202020204" pitchFamily="34" charset="0"/>
              </a:rPr>
              <a:t>Section H6 Energy Efficiency for residential buildings – BASIX (Building Sustainability Index)</a:t>
            </a:r>
          </a:p>
          <a:p>
            <a:endParaRPr lang="en-AU" dirty="0">
              <a:latin typeface="Aptos Display" panose="020B0004020202020204" pitchFamily="34" charset="0"/>
            </a:endParaRPr>
          </a:p>
          <a:p>
            <a:r>
              <a:rPr lang="en-AU" b="1" dirty="0">
                <a:latin typeface="Aptos Display" panose="020B0004020202020204" pitchFamily="34" charset="0"/>
              </a:rPr>
              <a:t>Current BASIX input method</a:t>
            </a:r>
          </a:p>
          <a:p>
            <a:pPr marL="285750" indent="-285750">
              <a:buFontTx/>
              <a:buChar char="-"/>
            </a:pPr>
            <a:r>
              <a:rPr lang="en-AU" dirty="0">
                <a:latin typeface="Aptos Display" panose="020B0004020202020204" pitchFamily="34" charset="0"/>
              </a:rPr>
              <a:t>A large amount of data is required to populate the website data fields manually with keyboard and mouse</a:t>
            </a:r>
          </a:p>
          <a:p>
            <a:pPr marL="285750" indent="-285750">
              <a:buFontTx/>
              <a:buChar char="-"/>
            </a:pPr>
            <a:endParaRPr lang="en-AU" dirty="0">
              <a:latin typeface="Aptos Display" panose="020B0004020202020204" pitchFamily="34" charset="0"/>
            </a:endParaRPr>
          </a:p>
          <a:p>
            <a:r>
              <a:rPr lang="en-AU" b="1" dirty="0">
                <a:latin typeface="Aptos Display" panose="020B0004020202020204" pitchFamily="34" charset="0"/>
              </a:rPr>
              <a:t>Project proof of concept</a:t>
            </a:r>
          </a:p>
          <a:p>
            <a:pPr marL="285750" indent="-285750">
              <a:buFontTx/>
              <a:buChar char="-"/>
            </a:pPr>
            <a:r>
              <a:rPr lang="en-AU" dirty="0">
                <a:latin typeface="Aptos Display" panose="020B0004020202020204" pitchFamily="34" charset="0"/>
              </a:rPr>
              <a:t>Use project information contained in digital 3D design file to automate the population of data fields</a:t>
            </a:r>
          </a:p>
          <a:p>
            <a:pPr marL="285750" indent="-285750">
              <a:buFontTx/>
              <a:buChar char="-"/>
            </a:pPr>
            <a:endParaRPr lang="en-AU" dirty="0">
              <a:latin typeface="Aptos Display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AU" dirty="0">
                <a:latin typeface="Aptos Display" panose="020B0004020202020204" pitchFamily="34" charset="0"/>
              </a:rPr>
              <a:t>Embed data within the model objects and align to BASIX data fields</a:t>
            </a:r>
          </a:p>
          <a:p>
            <a:pPr marL="285750" indent="-285750">
              <a:buFontTx/>
              <a:buChar char="-"/>
            </a:pPr>
            <a:endParaRPr lang="en-AU" dirty="0">
              <a:latin typeface="Aptos Display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AU" dirty="0">
                <a:latin typeface="Aptos Display" panose="020B0004020202020204" pitchFamily="34" charset="0"/>
              </a:rPr>
              <a:t>Verification method to check model data </a:t>
            </a:r>
          </a:p>
          <a:p>
            <a:pPr marL="285750" indent="-285750">
              <a:buFontTx/>
              <a:buChar char="-"/>
            </a:pPr>
            <a:endParaRPr lang="en-AU" dirty="0">
              <a:latin typeface="Aptos Display" panose="020B0004020202020204" pitchFamily="34" charset="0"/>
            </a:endParaRPr>
          </a:p>
          <a:p>
            <a:pPr marL="285750" indent="-285750">
              <a:buFontTx/>
              <a:buChar char="-"/>
            </a:pPr>
            <a:endParaRPr lang="en-AU" dirty="0">
              <a:latin typeface="Aptos Display" panose="020B0004020202020204" pitchFamily="34" charset="0"/>
            </a:endParaRPr>
          </a:p>
          <a:p>
            <a:pPr marL="285750" indent="-285750">
              <a:buFontTx/>
              <a:buChar char="-"/>
            </a:pPr>
            <a:endParaRPr lang="en-AU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8098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2AFF5-32B6-0A83-D208-3A88EBC4A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CA245F-C35F-953F-AE3B-3D8242FED479}"/>
              </a:ext>
            </a:extLst>
          </p:cNvPr>
          <p:cNvSpPr txBox="1"/>
          <p:nvPr/>
        </p:nvSpPr>
        <p:spPr>
          <a:xfrm>
            <a:off x="423584" y="356106"/>
            <a:ext cx="4724543" cy="42992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4" tIns="71434" rIns="71434" bIns="71434" numCol="1" spcCol="38100" rtlCol="0" anchor="ctr">
            <a:spAutoFit/>
          </a:bodyPr>
          <a:lstStyle/>
          <a:p>
            <a:r>
              <a:rPr lang="en-AU" b="1" dirty="0">
                <a:latin typeface="Aptos Display" panose="020B0004020202020204" pitchFamily="34" charset="0"/>
              </a:rPr>
              <a:t>Trust of digital information from 3D models to:</a:t>
            </a:r>
          </a:p>
          <a:p>
            <a:endParaRPr lang="en-AU" dirty="0">
              <a:latin typeface="Aptos Display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AU" dirty="0">
                <a:latin typeface="Aptos Display" panose="020B0004020202020204" pitchFamily="34" charset="0"/>
              </a:rPr>
              <a:t>Contain Project data</a:t>
            </a:r>
          </a:p>
          <a:p>
            <a:pPr marL="285750" indent="-285750">
              <a:buFontTx/>
              <a:buChar char="-"/>
            </a:pPr>
            <a:endParaRPr lang="en-AU" dirty="0">
              <a:latin typeface="Aptos Display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AU" dirty="0">
                <a:latin typeface="Aptos Display" panose="020B0004020202020204" pitchFamily="34" charset="0"/>
              </a:rPr>
              <a:t>Achieve Compliance</a:t>
            </a:r>
          </a:p>
          <a:p>
            <a:pPr marL="285750" indent="-285750">
              <a:buFontTx/>
              <a:buChar char="-"/>
            </a:pPr>
            <a:endParaRPr lang="en-AU" dirty="0">
              <a:latin typeface="Aptos Display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AU" dirty="0">
                <a:latin typeface="Aptos Display" panose="020B0004020202020204" pitchFamily="34" charset="0"/>
              </a:rPr>
              <a:t>Reduce Risk</a:t>
            </a:r>
          </a:p>
          <a:p>
            <a:pPr marL="285750" indent="-285750">
              <a:buFontTx/>
              <a:buChar char="-"/>
            </a:pPr>
            <a:endParaRPr lang="en-AU" dirty="0">
              <a:latin typeface="Aptos Display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AU" dirty="0">
                <a:latin typeface="Aptos Display" panose="020B0004020202020204" pitchFamily="34" charset="0"/>
              </a:rPr>
              <a:t>Avoid Duplication</a:t>
            </a:r>
          </a:p>
          <a:p>
            <a:pPr marL="285750" indent="-285750">
              <a:buFontTx/>
              <a:buChar char="-"/>
            </a:pPr>
            <a:endParaRPr lang="en-AU" dirty="0">
              <a:latin typeface="Aptos Display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AU" dirty="0">
                <a:latin typeface="Aptos Display" panose="020B0004020202020204" pitchFamily="34" charset="0"/>
              </a:rPr>
              <a:t>Eliminate Inconsistency</a:t>
            </a:r>
          </a:p>
          <a:p>
            <a:pPr marL="285750" indent="-285750">
              <a:buFontTx/>
              <a:buChar char="-"/>
            </a:pPr>
            <a:endParaRPr lang="en-AU" dirty="0">
              <a:latin typeface="Aptos Display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AU" dirty="0">
                <a:latin typeface="Aptos Display" panose="020B0004020202020204" pitchFamily="34" charset="0"/>
              </a:rPr>
              <a:t>Eliminate effort</a:t>
            </a:r>
          </a:p>
          <a:p>
            <a:endParaRPr lang="en-AU" dirty="0">
              <a:latin typeface="Aptos Display" panose="020B0004020202020204" pitchFamily="34" charset="0"/>
            </a:endParaRPr>
          </a:p>
          <a:p>
            <a:endParaRPr lang="en-AU" dirty="0">
              <a:latin typeface="Aptos Display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D5C9D-66C8-C780-7DA8-50A32C3CC3FC}"/>
              </a:ext>
            </a:extLst>
          </p:cNvPr>
          <p:cNvSpPr txBox="1"/>
          <p:nvPr/>
        </p:nvSpPr>
        <p:spPr>
          <a:xfrm>
            <a:off x="5229226" y="491332"/>
            <a:ext cx="1963700" cy="1067593"/>
          </a:xfrm>
          <a:prstGeom prst="rect">
            <a:avLst/>
          </a:prstGeom>
          <a:noFill/>
          <a:ln w="12700" cap="flat">
            <a:solidFill>
              <a:srgbClr val="00206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4" tIns="71434" rIns="71434" bIns="71434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AU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Architect\ Designer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AU" sz="1200" dirty="0"/>
              <a:t>Design components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AU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Object data</a:t>
            </a:r>
            <a:endParaRPr kumimoji="0" lang="en-AU" sz="11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44E1D6-5BD1-26B6-A2E9-5C28072808A5}"/>
              </a:ext>
            </a:extLst>
          </p:cNvPr>
          <p:cNvSpPr txBox="1"/>
          <p:nvPr/>
        </p:nvSpPr>
        <p:spPr>
          <a:xfrm>
            <a:off x="7393189" y="3099542"/>
            <a:ext cx="2250332" cy="1436925"/>
          </a:xfrm>
          <a:prstGeom prst="rect">
            <a:avLst/>
          </a:prstGeom>
          <a:noFill/>
          <a:ln w="12700" cap="flat">
            <a:solidFill>
              <a:srgbClr val="00206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4" tIns="71434" rIns="71434" bIns="71434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/>
            </a:lvl1pPr>
          </a:lstStyle>
          <a:p>
            <a:r>
              <a:rPr lang="en-AU" b="1" dirty="0"/>
              <a:t>Regulatory Compliance </a:t>
            </a:r>
          </a:p>
          <a:p>
            <a:r>
              <a:rPr lang="en-AU" sz="1200" dirty="0"/>
              <a:t>NCC\BCA\local requirements</a:t>
            </a:r>
          </a:p>
          <a:p>
            <a:r>
              <a:rPr lang="en-AU" sz="1200" dirty="0"/>
              <a:t>Project data</a:t>
            </a:r>
          </a:p>
          <a:p>
            <a:r>
              <a:rPr lang="en-AU" sz="1200" dirty="0"/>
              <a:t>Design components</a:t>
            </a:r>
          </a:p>
          <a:p>
            <a:r>
              <a:rPr lang="en-AU" sz="1200" dirty="0"/>
              <a:t>Object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F0D4A-6020-CABD-821D-E449A51C7FE4}"/>
              </a:ext>
            </a:extLst>
          </p:cNvPr>
          <p:cNvSpPr txBox="1"/>
          <p:nvPr/>
        </p:nvSpPr>
        <p:spPr>
          <a:xfrm>
            <a:off x="9805718" y="491331"/>
            <a:ext cx="1728757" cy="1067593"/>
          </a:xfrm>
          <a:prstGeom prst="rect">
            <a:avLst/>
          </a:prstGeom>
          <a:noFill/>
          <a:ln w="12700" cap="flat">
            <a:solidFill>
              <a:srgbClr val="00206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4" tIns="71434" rIns="71434" bIns="71434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/>
            </a:lvl1pPr>
          </a:lstStyle>
          <a:p>
            <a:r>
              <a:rPr lang="en-AU" b="1" dirty="0"/>
              <a:t>Product supplier</a:t>
            </a:r>
          </a:p>
          <a:p>
            <a:r>
              <a:rPr lang="en-AU" sz="1200" dirty="0"/>
              <a:t>Component data</a:t>
            </a:r>
          </a:p>
          <a:p>
            <a:endParaRPr lang="en-AU" sz="12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E13CDB-4096-4A62-7434-38CCB2ED7B81}"/>
              </a:ext>
            </a:extLst>
          </p:cNvPr>
          <p:cNvCxnSpPr>
            <a:cxnSpLocks/>
          </p:cNvCxnSpPr>
          <p:nvPr/>
        </p:nvCxnSpPr>
        <p:spPr>
          <a:xfrm flipH="1">
            <a:off x="7274025" y="1003465"/>
            <a:ext cx="2369496" cy="0"/>
          </a:xfrm>
          <a:prstGeom prst="straightConnector1">
            <a:avLst/>
          </a:prstGeom>
          <a:noFill/>
          <a:ln w="476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E32887-9444-3DCF-B285-82F8EFF361DA}"/>
              </a:ext>
            </a:extLst>
          </p:cNvPr>
          <p:cNvCxnSpPr>
            <a:cxnSpLocks/>
          </p:cNvCxnSpPr>
          <p:nvPr/>
        </p:nvCxnSpPr>
        <p:spPr>
          <a:xfrm flipV="1">
            <a:off x="9677591" y="1604554"/>
            <a:ext cx="992506" cy="1472113"/>
          </a:xfrm>
          <a:prstGeom prst="straightConnector1">
            <a:avLst/>
          </a:prstGeom>
          <a:noFill/>
          <a:ln w="476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F8CA02-A3AC-AD6E-B26E-59FDFC795979}"/>
              </a:ext>
            </a:extLst>
          </p:cNvPr>
          <p:cNvCxnSpPr>
            <a:cxnSpLocks/>
          </p:cNvCxnSpPr>
          <p:nvPr/>
        </p:nvCxnSpPr>
        <p:spPr>
          <a:xfrm>
            <a:off x="6102723" y="1604554"/>
            <a:ext cx="1214932" cy="1472113"/>
          </a:xfrm>
          <a:prstGeom prst="straightConnector1">
            <a:avLst/>
          </a:prstGeom>
          <a:noFill/>
          <a:ln w="476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3E87696-F5FB-4BEB-7BBE-9341B01506FE}"/>
              </a:ext>
            </a:extLst>
          </p:cNvPr>
          <p:cNvSpPr txBox="1"/>
          <p:nvPr/>
        </p:nvSpPr>
        <p:spPr>
          <a:xfrm>
            <a:off x="7393189" y="5147985"/>
            <a:ext cx="2250332" cy="1436925"/>
          </a:xfrm>
          <a:prstGeom prst="rect">
            <a:avLst/>
          </a:prstGeom>
          <a:noFill/>
          <a:ln w="12700" cap="flat">
            <a:solidFill>
              <a:srgbClr val="00206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4" tIns="71434" rIns="71434" bIns="71434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/>
            </a:lvl1pPr>
          </a:lstStyle>
          <a:p>
            <a:r>
              <a:rPr lang="en-AU" b="1" dirty="0"/>
              <a:t>Regulatory Assessment </a:t>
            </a:r>
          </a:p>
          <a:p>
            <a:r>
              <a:rPr lang="en-AU" sz="1200" dirty="0"/>
              <a:t>Specific project data</a:t>
            </a:r>
          </a:p>
          <a:p>
            <a:r>
              <a:rPr lang="en-AU" sz="1200" dirty="0"/>
              <a:t>NCC\BCA\local requirements</a:t>
            </a:r>
          </a:p>
          <a:p>
            <a:r>
              <a:rPr lang="en-AU" sz="1200" dirty="0"/>
              <a:t>Design components</a:t>
            </a:r>
          </a:p>
          <a:p>
            <a:r>
              <a:rPr lang="en-AU" sz="1200" dirty="0"/>
              <a:t>Object data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AA9CEE-64B9-8E31-4C21-D11E0D1DA3D3}"/>
              </a:ext>
            </a:extLst>
          </p:cNvPr>
          <p:cNvCxnSpPr>
            <a:cxnSpLocks/>
          </p:cNvCxnSpPr>
          <p:nvPr/>
        </p:nvCxnSpPr>
        <p:spPr>
          <a:xfrm>
            <a:off x="8518355" y="4563363"/>
            <a:ext cx="0" cy="551002"/>
          </a:xfrm>
          <a:prstGeom prst="straightConnector1">
            <a:avLst/>
          </a:prstGeom>
          <a:noFill/>
          <a:ln w="476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95B8AF-13D6-B2BF-AAEC-1C2166F2E82C}"/>
              </a:ext>
            </a:extLst>
          </p:cNvPr>
          <p:cNvCxnSpPr>
            <a:cxnSpLocks/>
          </p:cNvCxnSpPr>
          <p:nvPr/>
        </p:nvCxnSpPr>
        <p:spPr>
          <a:xfrm>
            <a:off x="6102723" y="1603612"/>
            <a:ext cx="1290466" cy="3510753"/>
          </a:xfrm>
          <a:prstGeom prst="straightConnector1">
            <a:avLst/>
          </a:prstGeom>
          <a:noFill/>
          <a:ln w="476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92840298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9A820-4D67-C035-263D-BE2A904CC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10E205-56E2-8592-1EC6-09F6EEAB7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150256"/>
            <a:ext cx="6401454" cy="4560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C44690-2D3D-7813-BA43-F7AA58B05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071" y="1077816"/>
            <a:ext cx="6058554" cy="42881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FC7F3D-B6EC-0907-0F53-FBFF5C53B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710" y="2117934"/>
            <a:ext cx="5910915" cy="41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345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84D4C-C38A-0A35-407A-97ADA8D4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3EF98C-E94B-085C-8FFF-CA4481EE4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7758"/>
            <a:ext cx="5642798" cy="5860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583821-4ED2-B0EC-9210-C421012A3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3" y="201038"/>
            <a:ext cx="4598429" cy="6455923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612CCE-68B5-B3F1-90F6-A2BB5D592681}"/>
              </a:ext>
            </a:extLst>
          </p:cNvPr>
          <p:cNvSpPr/>
          <p:nvPr/>
        </p:nvSpPr>
        <p:spPr>
          <a:xfrm>
            <a:off x="6386598" y="5583677"/>
            <a:ext cx="5267138" cy="166372"/>
          </a:xfrm>
          <a:prstGeom prst="roundRect">
            <a:avLst/>
          </a:prstGeom>
          <a:noFill/>
          <a:ln w="41275" cap="flat">
            <a:solidFill>
              <a:srgbClr val="FF0000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4" tIns="71434" rIns="71434" bIns="71434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084746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20586-075A-D5EC-450C-4F50B4067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E26FE7-CDCE-C1FD-4A2C-55BCEB9DB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731" y="2237362"/>
            <a:ext cx="8143339" cy="27186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64C5F2-4250-E253-4FD5-764CDA5EA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246" y="284277"/>
            <a:ext cx="7553500" cy="195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2895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090D1-E449-208B-1835-3D5CA6854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0FB43F-FA8A-7C73-74EA-8084577A9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61" y="158031"/>
            <a:ext cx="8135485" cy="2067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22F581-DDD8-AEE9-D5E1-A268EDEA5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061" y="2484648"/>
            <a:ext cx="8077900" cy="30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2252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38DA67-8A68-97ED-B2FB-47AABEF93533}"/>
              </a:ext>
            </a:extLst>
          </p:cNvPr>
          <p:cNvSpPr txBox="1"/>
          <p:nvPr/>
        </p:nvSpPr>
        <p:spPr>
          <a:xfrm>
            <a:off x="611520" y="539305"/>
            <a:ext cx="11103429" cy="5684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4" tIns="71434" rIns="71434" bIns="71434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AU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ptos Display" panose="020B0004020202020204" pitchFamily="34" charset="0"/>
                <a:sym typeface="Helvetica"/>
              </a:rPr>
              <a:t>NCC structure: </a:t>
            </a:r>
            <a:r>
              <a:rPr lang="en-AU" dirty="0">
                <a:latin typeface="Aptos Display" panose="020B0004020202020204" pitchFamily="34" charset="0"/>
              </a:rPr>
              <a:t>NSW  variation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A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ptos Display" panose="020B0004020202020204" pitchFamily="34" charset="0"/>
                <a:sym typeface="Helvetica"/>
              </a:rPr>
              <a:t>Section H &amp; J</a:t>
            </a:r>
            <a:r>
              <a:rPr lang="en-AU" dirty="0">
                <a:latin typeface="Aptos Display" panose="020B0004020202020204" pitchFamily="34" charset="0"/>
              </a:rPr>
              <a:t> for residential buildings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en-A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ptos Display" panose="020B0004020202020204" pitchFamily="34" charset="0"/>
                <a:sym typeface="Helvetica"/>
              </a:rPr>
              <a:t>This includes BASIX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en-AU" dirty="0">
                <a:latin typeface="Aptos Display" panose="020B0004020202020204" pitchFamily="34" charset="0"/>
              </a:rPr>
              <a:t>Online submission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lang="en-AU" dirty="0">
              <a:latin typeface="Aptos Display" panose="020B0004020202020204" pitchFamily="34" charset="0"/>
            </a:endParaRP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AU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ptos Display" panose="020B0004020202020204" pitchFamily="34" charset="0"/>
                <a:sym typeface="Helvetica"/>
              </a:rPr>
              <a:t>Aim to achieve minimal for water usage, energy consumption and maximise thermal comfort etc.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kumimoji="0" lang="en-AU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ptos Display" panose="020B0004020202020204" pitchFamily="34" charset="0"/>
              <a:sym typeface="Helvetica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en-AU" dirty="0">
                <a:latin typeface="Aptos Display" panose="020B0004020202020204" pitchFamily="34" charset="0"/>
              </a:rPr>
              <a:t>Once achieve minimum level then can generate a BASIX Certificate from website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kumimoji="0" lang="en-A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ptos Display" panose="020B0004020202020204" pitchFamily="34" charset="0"/>
              <a:sym typeface="Helvetica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kumimoji="0" lang="en-A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ptos Display" panose="020B0004020202020204" pitchFamily="34" charset="0"/>
              <a:sym typeface="Helvetica"/>
            </a:endParaRP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AU" b="1" dirty="0">
                <a:latin typeface="Aptos Display" panose="020B0004020202020204" pitchFamily="34" charset="0"/>
              </a:rPr>
              <a:t>What data does the BASIX require?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en-A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ptos Display" panose="020B0004020202020204" pitchFamily="34" charset="0"/>
                <a:sym typeface="Helvetica"/>
              </a:rPr>
              <a:t>Building and site areas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lang="en-AU" dirty="0">
              <a:latin typeface="Aptos Display" panose="020B0004020202020204" pitchFamily="34" charset="0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en-AU" dirty="0">
                <a:latin typeface="Aptos Display" panose="020B0004020202020204" pitchFamily="34" charset="0"/>
              </a:rPr>
              <a:t>Fabric specifications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kumimoji="0" lang="en-A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ptos Display" panose="020B0004020202020204" pitchFamily="34" charset="0"/>
              <a:sym typeface="Helvetica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en-A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ptos Display" panose="020B0004020202020204" pitchFamily="34" charset="0"/>
                <a:sym typeface="Helvetica"/>
              </a:rPr>
              <a:t>Appliance type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lang="en-AU" dirty="0">
              <a:latin typeface="Aptos Display" panose="020B0004020202020204" pitchFamily="34" charset="0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en-AU" dirty="0">
                <a:latin typeface="Aptos Display" panose="020B0004020202020204" pitchFamily="34" charset="0"/>
              </a:rPr>
              <a:t>Window areas, glazing specification, orientation, shading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lang="en-AU" dirty="0">
              <a:latin typeface="Aptos Display" panose="020B0004020202020204" pitchFamily="34" charset="0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en-AU" b="1" dirty="0">
                <a:latin typeface="Aptos Display" panose="020B0004020202020204" pitchFamily="34" charset="0"/>
              </a:rPr>
              <a:t>Information already contained in 3D models</a:t>
            </a:r>
          </a:p>
        </p:txBody>
      </p:sp>
    </p:spTree>
    <p:extLst>
      <p:ext uri="{BB962C8B-B14F-4D97-AF65-F5344CB8AC3E}">
        <p14:creationId xmlns:p14="http://schemas.microsoft.com/office/powerpoint/2010/main" val="147877836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3C82-9C27-5DFF-7FCC-1B3F59140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TextBox 3">
            <a:extLst>
              <a:ext uri="{FF2B5EF4-FFF2-40B4-BE49-F238E27FC236}">
                <a16:creationId xmlns:a16="http://schemas.microsoft.com/office/drawing/2014/main" id="{F8764115-8D37-E514-47C0-BD06A7559414}"/>
              </a:ext>
            </a:extLst>
          </p:cNvPr>
          <p:cNvSpPr txBox="1"/>
          <p:nvPr/>
        </p:nvSpPr>
        <p:spPr>
          <a:xfrm>
            <a:off x="1497263" y="409782"/>
            <a:ext cx="856113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lang="en-US" dirty="0"/>
              <a:t>Relevance for other code compliance uses</a:t>
            </a:r>
            <a:endParaRPr dirty="0"/>
          </a:p>
        </p:txBody>
      </p:sp>
      <p:sp>
        <p:nvSpPr>
          <p:cNvPr id="644" name="As all BASIX submitters know, BASIX requires detailed environmental, water usage, waste, electrical data - the IFC source model needs to be multi-disciplinary!…">
            <a:extLst>
              <a:ext uri="{FF2B5EF4-FFF2-40B4-BE49-F238E27FC236}">
                <a16:creationId xmlns:a16="http://schemas.microsoft.com/office/drawing/2014/main" id="{B005CC0A-D660-8BF2-D45F-86735CE1EF3D}"/>
              </a:ext>
            </a:extLst>
          </p:cNvPr>
          <p:cNvSpPr txBox="1"/>
          <p:nvPr/>
        </p:nvSpPr>
        <p:spPr>
          <a:xfrm>
            <a:off x="1497263" y="3056836"/>
            <a:ext cx="8151472" cy="836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>
              <a:spcBef>
                <a:spcPts val="600"/>
              </a:spcBef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US" sz="2000" dirty="0">
                <a:latin typeface="Gill Sans MT" panose="020B0502020104020203" pitchFamily="34" charset="0"/>
              </a:rPr>
              <a:t>Parts of the puzzle</a:t>
            </a:r>
            <a:r>
              <a:rPr sz="2000" dirty="0">
                <a:latin typeface="Gill Sans MT" panose="020B0502020104020203" pitchFamily="34" charset="0"/>
              </a:rPr>
              <a:t> 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US" sz="2000" dirty="0">
                <a:latin typeface="Gill Sans MT" panose="020B0502020104020203" pitchFamily="34" charset="0"/>
              </a:rPr>
              <a:t>Defined</a:t>
            </a:r>
            <a:endParaRPr sz="2000" dirty="0">
              <a:latin typeface="Gill Sans MT" panose="020B05020201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F0EBC0-9351-B56F-74B4-DDE5FE778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88" y="0"/>
            <a:ext cx="97704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413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04F40-F730-A4ED-E6C3-82CB2EC4B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E60112-BA7E-FED4-3586-B5F5C2240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8443"/>
            <a:ext cx="12192000" cy="558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1703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DE088-196C-DD0B-0D5D-EA431BCE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E1C37D-EC85-7AA6-6106-6A9D659A8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363"/>
            <a:ext cx="12192000" cy="59112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DC8F8D-36D8-505D-3E29-7DB7A4CB2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9587"/>
            <a:ext cx="12192000" cy="421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5870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342D1-9E19-7C0F-516D-9D9AA7512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568C572-6771-2D42-7F78-6D6A1E23A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433"/>
            <a:ext cx="12192000" cy="593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464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AB54E-B321-415B-37C4-371DE9F4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TextBox 3">
            <a:extLst>
              <a:ext uri="{FF2B5EF4-FFF2-40B4-BE49-F238E27FC236}">
                <a16:creationId xmlns:a16="http://schemas.microsoft.com/office/drawing/2014/main" id="{2A673908-8A71-B905-B5E3-2FE66C10FD7F}"/>
              </a:ext>
            </a:extLst>
          </p:cNvPr>
          <p:cNvSpPr txBox="1"/>
          <p:nvPr/>
        </p:nvSpPr>
        <p:spPr>
          <a:xfrm>
            <a:off x="1085851" y="409782"/>
            <a:ext cx="9682306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dirty="0"/>
              <a:t>Improving Productivity with </a:t>
            </a:r>
            <a:r>
              <a:rPr lang="en-AU" dirty="0"/>
              <a:t>Open BIM, IFC and </a:t>
            </a:r>
            <a:r>
              <a:rPr dirty="0"/>
              <a:t>IDS</a:t>
            </a:r>
          </a:p>
        </p:txBody>
      </p:sp>
      <p:sp>
        <p:nvSpPr>
          <p:cNvPr id="587" name="Submission of a BASIX assessment is currently a complex web-based task requiring manually filling in over 200 information items, requiring tedious preparation, duplication of tasks etc.…">
            <a:extLst>
              <a:ext uri="{FF2B5EF4-FFF2-40B4-BE49-F238E27FC236}">
                <a16:creationId xmlns:a16="http://schemas.microsoft.com/office/drawing/2014/main" id="{5A0E0737-CD3E-1848-3743-07DDC7156370}"/>
              </a:ext>
            </a:extLst>
          </p:cNvPr>
          <p:cNvSpPr txBox="1"/>
          <p:nvPr/>
        </p:nvSpPr>
        <p:spPr>
          <a:xfrm>
            <a:off x="1423843" y="1254088"/>
            <a:ext cx="9344314" cy="326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4" tIns="71434" rIns="71434" bIns="71434" anchor="ctr">
            <a:spAutoFit/>
          </a:bodyPr>
          <a:lstStyle/>
          <a:p>
            <a:pPr>
              <a:spcBef>
                <a:spcPts val="600"/>
              </a:spcBef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Submission of a BASIX assessment is currently a complex web-based task requiring manually filling in over 200 information items, requiring tedious preparation, duplication of tasks etc. </a:t>
            </a:r>
          </a:p>
          <a:p>
            <a:pPr>
              <a:spcBef>
                <a:spcPts val="600"/>
              </a:spcBef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endParaRPr dirty="0"/>
          </a:p>
          <a:p>
            <a:pPr>
              <a:spcBef>
                <a:spcPts val="600"/>
              </a:spcBef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We demonstrate IDS - the new way of validating information content in a building model. </a:t>
            </a:r>
          </a:p>
          <a:p>
            <a:pPr marL="228600" indent="-228600">
              <a:spcBef>
                <a:spcPts val="600"/>
              </a:spcBef>
              <a:buSzPct val="100000"/>
              <a:buChar char="•"/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IDS offers a simpler process, </a:t>
            </a:r>
          </a:p>
          <a:p>
            <a:pPr marL="180473" indent="-180473">
              <a:spcBef>
                <a:spcPts val="600"/>
              </a:spcBef>
              <a:buSzPct val="100000"/>
              <a:buChar char="•"/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integration with the BIM authoring process and </a:t>
            </a:r>
          </a:p>
          <a:p>
            <a:pPr marL="180473" indent="-180473">
              <a:spcBef>
                <a:spcPts val="600"/>
              </a:spcBef>
              <a:buSzPct val="100000"/>
              <a:buChar char="•"/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actually provides more accurate data to assess the performance requirements of BASIX. </a:t>
            </a:r>
          </a:p>
          <a:p>
            <a:pPr>
              <a:spcBef>
                <a:spcPts val="600"/>
              </a:spcBef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endParaRPr dirty="0"/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The talk will explain the role of IDS and provide a demonstration of an actual residential building using a prototype developed by Dion </a:t>
            </a:r>
            <a:r>
              <a:rPr dirty="0" err="1"/>
              <a:t>Moult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1769239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4D542-9831-A5D8-1E05-BEFD9EA31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TextBox 3">
            <a:extLst>
              <a:ext uri="{FF2B5EF4-FFF2-40B4-BE49-F238E27FC236}">
                <a16:creationId xmlns:a16="http://schemas.microsoft.com/office/drawing/2014/main" id="{7D3E5589-AC9F-1676-4EC8-9DEB930DB2E2}"/>
              </a:ext>
            </a:extLst>
          </p:cNvPr>
          <p:cNvSpPr txBox="1"/>
          <p:nvPr/>
        </p:nvSpPr>
        <p:spPr>
          <a:xfrm>
            <a:off x="647701" y="409782"/>
            <a:ext cx="11077574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lang="en-US" dirty="0"/>
              <a:t>Sample of required BASIX data</a:t>
            </a:r>
          </a:p>
        </p:txBody>
      </p:sp>
      <p:sp>
        <p:nvSpPr>
          <p:cNvPr id="587" name="Submission of a BASIX assessment is currently a complex web-based task requiring manually filling in over 200 information items, requiring tedious preparation, duplication of tasks etc.…">
            <a:extLst>
              <a:ext uri="{FF2B5EF4-FFF2-40B4-BE49-F238E27FC236}">
                <a16:creationId xmlns:a16="http://schemas.microsoft.com/office/drawing/2014/main" id="{99BAA9FF-E5CD-1330-83C8-8CF2A7F50C0B}"/>
              </a:ext>
            </a:extLst>
          </p:cNvPr>
          <p:cNvSpPr txBox="1"/>
          <p:nvPr/>
        </p:nvSpPr>
        <p:spPr>
          <a:xfrm>
            <a:off x="1338118" y="1004221"/>
            <a:ext cx="9344314" cy="42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4" tIns="71434" rIns="71434" bIns="71434" anchor="ctr">
            <a:spAutoFit/>
          </a:bodyPr>
          <a:lstStyle/>
          <a:p>
            <a:pPr>
              <a:spcBef>
                <a:spcPts val="600"/>
              </a:spcBef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Submission of a BASIX assessment is currently </a:t>
            </a:r>
            <a:r>
              <a:rPr lang="en-AU" dirty="0"/>
              <a:t>via a </a:t>
            </a:r>
            <a:r>
              <a:rPr dirty="0"/>
              <a:t>web-based task requiring manually </a:t>
            </a:r>
            <a:r>
              <a:rPr lang="en-AU" dirty="0"/>
              <a:t>entry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5A1653-5EF8-773D-E161-08BA38199C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386"/>
          <a:stretch>
            <a:fillRect/>
          </a:stretch>
        </p:blipFill>
        <p:spPr>
          <a:xfrm>
            <a:off x="161924" y="1878106"/>
            <a:ext cx="4680905" cy="1097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556054-89A8-ABB7-2A93-AF64AD402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425" y="1496681"/>
            <a:ext cx="7105651" cy="477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4992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731D3-7EFB-3E5B-F0F7-36162111F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Submission of a BASIX assessment is currently a complex web-based task requiring manually filling in over 200 information items, requiring tedious preparation, duplication of tasks etc.…">
            <a:extLst>
              <a:ext uri="{FF2B5EF4-FFF2-40B4-BE49-F238E27FC236}">
                <a16:creationId xmlns:a16="http://schemas.microsoft.com/office/drawing/2014/main" id="{84653F0E-4466-0D8F-9586-F39D85DCD0FE}"/>
              </a:ext>
            </a:extLst>
          </p:cNvPr>
          <p:cNvSpPr txBox="1"/>
          <p:nvPr/>
        </p:nvSpPr>
        <p:spPr>
          <a:xfrm>
            <a:off x="1196363" y="948391"/>
            <a:ext cx="9344314" cy="42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4" tIns="71434" rIns="71434" bIns="71434" anchor="ctr">
            <a:spAutoFit/>
          </a:bodyPr>
          <a:lstStyle/>
          <a:p>
            <a:pPr>
              <a:spcBef>
                <a:spcPts val="600"/>
              </a:spcBef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Submission of a BASIX assessment is currently a complex web-based task requiring manually filling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140EA7-6B34-618E-0B50-474812CF3E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696"/>
          <a:stretch>
            <a:fillRect/>
          </a:stretch>
        </p:blipFill>
        <p:spPr>
          <a:xfrm>
            <a:off x="209034" y="1631284"/>
            <a:ext cx="4977775" cy="33312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5BE466-B116-E139-162E-BF86F3674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271" y="1387749"/>
            <a:ext cx="6596695" cy="4924978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E1CE77C8-2C93-E4B5-BD25-23FE684B762C}"/>
              </a:ext>
            </a:extLst>
          </p:cNvPr>
          <p:cNvSpPr txBox="1"/>
          <p:nvPr/>
        </p:nvSpPr>
        <p:spPr>
          <a:xfrm>
            <a:off x="647701" y="409782"/>
            <a:ext cx="11077574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lang="en-US" dirty="0"/>
              <a:t>Sample of required BASIX data</a:t>
            </a:r>
          </a:p>
        </p:txBody>
      </p:sp>
    </p:spTree>
    <p:extLst>
      <p:ext uri="{BB962C8B-B14F-4D97-AF65-F5344CB8AC3E}">
        <p14:creationId xmlns:p14="http://schemas.microsoft.com/office/powerpoint/2010/main" val="3326233184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extBox 3"/>
          <p:cNvSpPr txBox="1"/>
          <p:nvPr/>
        </p:nvSpPr>
        <p:spPr>
          <a:xfrm>
            <a:off x="2417316" y="301099"/>
            <a:ext cx="673172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lang="en-AU" dirty="0"/>
              <a:t>Data within 3D models</a:t>
            </a:r>
            <a:endParaRPr dirty="0"/>
          </a:p>
        </p:txBody>
      </p:sp>
      <p:pic>
        <p:nvPicPr>
          <p:cNvPr id="593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93" y="1660931"/>
            <a:ext cx="6753226" cy="3536137"/>
          </a:xfrm>
          <a:prstGeom prst="rect">
            <a:avLst/>
          </a:prstGeom>
          <a:ln w="12700">
            <a:miter lim="400000"/>
          </a:ln>
        </p:spPr>
      </p:pic>
      <p:pic>
        <p:nvPicPr>
          <p:cNvPr id="594" name="Picture 7" descr="Picture 7"/>
          <p:cNvPicPr>
            <a:picLocks noChangeAspect="1"/>
          </p:cNvPicPr>
          <p:nvPr/>
        </p:nvPicPr>
        <p:blipFill>
          <a:blip r:embed="rId3"/>
          <a:srcRect l="1677" t="966" r="2150" b="5877"/>
          <a:stretch>
            <a:fillRect/>
          </a:stretch>
        </p:blipFill>
        <p:spPr>
          <a:xfrm>
            <a:off x="6457558" y="928790"/>
            <a:ext cx="4380280" cy="545515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2DCB9D-2F47-2A82-B278-EE8754D1BB38}"/>
              </a:ext>
            </a:extLst>
          </p:cNvPr>
          <p:cNvSpPr txBox="1"/>
          <p:nvPr/>
        </p:nvSpPr>
        <p:spPr>
          <a:xfrm>
            <a:off x="1146187" y="1248479"/>
            <a:ext cx="358717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AU" dirty="0"/>
              <a:t>Revit 3D model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FB28-6A03-A94E-6BE7-BA7453F58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extBox 3">
            <a:extLst>
              <a:ext uri="{FF2B5EF4-FFF2-40B4-BE49-F238E27FC236}">
                <a16:creationId xmlns:a16="http://schemas.microsoft.com/office/drawing/2014/main" id="{D000BA5F-C783-A876-24F9-D397128BC54C}"/>
              </a:ext>
            </a:extLst>
          </p:cNvPr>
          <p:cNvSpPr txBox="1"/>
          <p:nvPr/>
        </p:nvSpPr>
        <p:spPr>
          <a:xfrm>
            <a:off x="942975" y="405549"/>
            <a:ext cx="9191625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lang="en-AU" dirty="0"/>
              <a:t>Data within 3D objects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83BB0-FA5C-3864-8D39-3F4EA0648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686970"/>
            <a:ext cx="5599799" cy="3766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C61A9A-1E87-BC7D-1658-94732B27A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1686970"/>
            <a:ext cx="6553200" cy="4524828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7762CE-EBAE-4C66-6FCB-3F60C26DF95F}"/>
              </a:ext>
            </a:extLst>
          </p:cNvPr>
          <p:cNvSpPr/>
          <p:nvPr/>
        </p:nvSpPr>
        <p:spPr>
          <a:xfrm>
            <a:off x="5314950" y="3299154"/>
            <a:ext cx="2220744" cy="1815830"/>
          </a:xfrm>
          <a:prstGeom prst="roundRect">
            <a:avLst>
              <a:gd name="adj" fmla="val 7040"/>
            </a:avLst>
          </a:prstGeom>
          <a:noFill/>
          <a:ln w="38100" cap="flat">
            <a:solidFill>
              <a:srgbClr val="FF0000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4" tIns="71434" rIns="71434" bIns="71434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3F1398-A0BA-9FED-9589-E2C73D9C2732}"/>
              </a:ext>
            </a:extLst>
          </p:cNvPr>
          <p:cNvSpPr/>
          <p:nvPr/>
        </p:nvSpPr>
        <p:spPr>
          <a:xfrm>
            <a:off x="2986367" y="4263115"/>
            <a:ext cx="2251262" cy="1263626"/>
          </a:xfrm>
          <a:prstGeom prst="roundRect">
            <a:avLst>
              <a:gd name="adj" fmla="val 7040"/>
            </a:avLst>
          </a:prstGeom>
          <a:noFill/>
          <a:ln w="38100" cap="flat">
            <a:solidFill>
              <a:srgbClr val="FF0000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4" tIns="71434" rIns="71434" bIns="71434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E6577-362A-116C-AA62-0F7A566E2447}"/>
              </a:ext>
            </a:extLst>
          </p:cNvPr>
          <p:cNvSpPr txBox="1"/>
          <p:nvPr/>
        </p:nvSpPr>
        <p:spPr>
          <a:xfrm>
            <a:off x="372981" y="1146593"/>
            <a:ext cx="358717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AU" dirty="0"/>
              <a:t>Revit 3D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CEF832-AC86-23AF-6D70-AB60FB28891A}"/>
              </a:ext>
            </a:extLst>
          </p:cNvPr>
          <p:cNvSpPr txBox="1"/>
          <p:nvPr/>
        </p:nvSpPr>
        <p:spPr>
          <a:xfrm>
            <a:off x="7718612" y="1146593"/>
            <a:ext cx="414953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AU" dirty="0"/>
              <a:t>IFC 3D model in Solibri Model Checker</a:t>
            </a:r>
          </a:p>
        </p:txBody>
      </p:sp>
    </p:spTree>
    <p:extLst>
      <p:ext uri="{BB962C8B-B14F-4D97-AF65-F5344CB8AC3E}">
        <p14:creationId xmlns:p14="http://schemas.microsoft.com/office/powerpoint/2010/main" val="142994828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TextBox 3"/>
          <p:cNvSpPr txBox="1"/>
          <p:nvPr/>
        </p:nvSpPr>
        <p:spPr>
          <a:xfrm>
            <a:off x="1347537" y="405549"/>
            <a:ext cx="9847735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dirty="0"/>
              <a:t>specifying the IFC data…</a:t>
            </a:r>
            <a:r>
              <a:rPr lang="en-AU" dirty="0"/>
              <a:t>in ArchiCAD model</a:t>
            </a:r>
            <a:endParaRPr dirty="0"/>
          </a:p>
        </p:txBody>
      </p:sp>
      <p:pic>
        <p:nvPicPr>
          <p:cNvPr id="597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2587" y="-324051"/>
            <a:ext cx="7640539" cy="5347691"/>
          </a:xfrm>
          <a:prstGeom prst="rect">
            <a:avLst/>
          </a:prstGeom>
          <a:ln w="12700">
            <a:miter lim="400000"/>
          </a:ln>
        </p:spPr>
      </p:pic>
      <p:pic>
        <p:nvPicPr>
          <p:cNvPr id="598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1438" y="936676"/>
            <a:ext cx="7693504" cy="5518637"/>
          </a:xfrm>
          <a:prstGeom prst="rect">
            <a:avLst/>
          </a:prstGeom>
          <a:ln w="12700">
            <a:miter lim="400000"/>
          </a:ln>
        </p:spPr>
      </p:pic>
      <p:pic>
        <p:nvPicPr>
          <p:cNvPr id="599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285" y="1123563"/>
            <a:ext cx="7431993" cy="5449663"/>
          </a:xfrm>
          <a:prstGeom prst="rect">
            <a:avLst/>
          </a:prstGeom>
          <a:ln w="12700">
            <a:miter lim="400000"/>
          </a:ln>
        </p:spPr>
      </p:pic>
      <p:sp>
        <p:nvSpPr>
          <p:cNvPr id="600" name="Landscape Plan"/>
          <p:cNvSpPr txBox="1"/>
          <p:nvPr/>
        </p:nvSpPr>
        <p:spPr>
          <a:xfrm>
            <a:off x="10053212" y="5300362"/>
            <a:ext cx="1142060" cy="333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4" tIns="71434" rIns="71434" bIns="71434" anchor="ctr">
            <a:spAutoFit/>
          </a:bodyPr>
          <a:lstStyle>
            <a:lvl1pPr>
              <a:defRPr sz="1300">
                <a:latin typeface="Gill Sans Light"/>
                <a:ea typeface="Gill Sans Light"/>
                <a:cs typeface="Gill Sans Light"/>
                <a:sym typeface="Gill Sans Light"/>
              </a:defRPr>
            </a:lvl1pPr>
          </a:lstStyle>
          <a:p>
            <a:r>
              <a:t>Landscape Plan</a:t>
            </a:r>
          </a:p>
        </p:txBody>
      </p:sp>
      <p:pic>
        <p:nvPicPr>
          <p:cNvPr id="601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5979" y="2829306"/>
            <a:ext cx="4634892" cy="25258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5B246-35FD-D20C-4708-20DFA20E6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FB8A0F-12E7-3B03-07E6-453D73692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58" y="1707484"/>
            <a:ext cx="10311683" cy="46578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43" name="TextBox 3">
            <a:extLst>
              <a:ext uri="{FF2B5EF4-FFF2-40B4-BE49-F238E27FC236}">
                <a16:creationId xmlns:a16="http://schemas.microsoft.com/office/drawing/2014/main" id="{E58A24CF-1C89-6073-BC1A-BEE9697B08FE}"/>
              </a:ext>
            </a:extLst>
          </p:cNvPr>
          <p:cNvSpPr txBox="1"/>
          <p:nvPr/>
        </p:nvSpPr>
        <p:spPr>
          <a:xfrm>
            <a:off x="1330122" y="223325"/>
            <a:ext cx="973680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dirty="0"/>
              <a:t>Improving Productivity </a:t>
            </a:r>
            <a:r>
              <a:rPr lang="en-AU" dirty="0"/>
              <a:t>mapping data for BASIX use</a:t>
            </a:r>
            <a:endParaRPr dirty="0"/>
          </a:p>
        </p:txBody>
      </p:sp>
      <p:sp>
        <p:nvSpPr>
          <p:cNvPr id="644" name="As all BASIX submitters know, BASIX requires detailed environmental, water usage, waste, electrical data - the IFC source model needs to be multi-disciplinary!…">
            <a:extLst>
              <a:ext uri="{FF2B5EF4-FFF2-40B4-BE49-F238E27FC236}">
                <a16:creationId xmlns:a16="http://schemas.microsoft.com/office/drawing/2014/main" id="{889FC74A-0D1E-646A-2D51-E2CCB1FD945E}"/>
              </a:ext>
            </a:extLst>
          </p:cNvPr>
          <p:cNvSpPr txBox="1"/>
          <p:nvPr/>
        </p:nvSpPr>
        <p:spPr>
          <a:xfrm>
            <a:off x="954428" y="1067146"/>
            <a:ext cx="10647022" cy="42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ctr">
              <a:spcBef>
                <a:spcPts val="600"/>
              </a:spcBef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AU" dirty="0">
                <a:latin typeface="Gill Sans MT" panose="020B0502020104020203" pitchFamily="34" charset="0"/>
              </a:rPr>
              <a:t>Mapping of BASIX terminology to IFC standard and custom properties and Property Sets</a:t>
            </a:r>
            <a:endParaRPr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09381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1DE42-E936-C97A-1A05-7FA347FDF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TextBox 3">
            <a:extLst>
              <a:ext uri="{FF2B5EF4-FFF2-40B4-BE49-F238E27FC236}">
                <a16:creationId xmlns:a16="http://schemas.microsoft.com/office/drawing/2014/main" id="{E80B64BE-A347-52AF-CAE8-50E2834C5A56}"/>
              </a:ext>
            </a:extLst>
          </p:cNvPr>
          <p:cNvSpPr txBox="1"/>
          <p:nvPr/>
        </p:nvSpPr>
        <p:spPr>
          <a:xfrm>
            <a:off x="1330122" y="223325"/>
            <a:ext cx="973680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dirty="0"/>
              <a:t>Improving Productivity </a:t>
            </a:r>
            <a:r>
              <a:rPr lang="en-AU" dirty="0"/>
              <a:t>mapping data for BASIX use</a:t>
            </a:r>
            <a:endParaRPr dirty="0"/>
          </a:p>
        </p:txBody>
      </p:sp>
      <p:sp>
        <p:nvSpPr>
          <p:cNvPr id="644" name="As all BASIX submitters know, BASIX requires detailed environmental, water usage, waste, electrical data - the IFC source model needs to be multi-disciplinary!…">
            <a:extLst>
              <a:ext uri="{FF2B5EF4-FFF2-40B4-BE49-F238E27FC236}">
                <a16:creationId xmlns:a16="http://schemas.microsoft.com/office/drawing/2014/main" id="{6B6A6C6C-F3F5-3615-8D6D-910CA227C77B}"/>
              </a:ext>
            </a:extLst>
          </p:cNvPr>
          <p:cNvSpPr txBox="1"/>
          <p:nvPr/>
        </p:nvSpPr>
        <p:spPr>
          <a:xfrm>
            <a:off x="954428" y="1067146"/>
            <a:ext cx="10647022" cy="42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ctr">
              <a:spcBef>
                <a:spcPts val="600"/>
              </a:spcBef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AU" dirty="0">
                <a:latin typeface="Gill Sans MT" panose="020B0502020104020203" pitchFamily="34" charset="0"/>
              </a:rPr>
              <a:t>Mapping of BASIX terminology to IFC standard and custom properties and Property Sets</a:t>
            </a:r>
            <a:endParaRPr dirty="0">
              <a:latin typeface="Gill Sans MT" panose="020B05020201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B42B96-30FA-C8E8-A09D-043F08A54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28" y="1594871"/>
            <a:ext cx="10334625" cy="465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39542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3656A-F81B-A2BF-9B3E-15D0BFFF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TextBox 3">
            <a:extLst>
              <a:ext uri="{FF2B5EF4-FFF2-40B4-BE49-F238E27FC236}">
                <a16:creationId xmlns:a16="http://schemas.microsoft.com/office/drawing/2014/main" id="{A771ABEC-9FEB-4D59-F5DB-3B06D9336A64}"/>
              </a:ext>
            </a:extLst>
          </p:cNvPr>
          <p:cNvSpPr txBox="1"/>
          <p:nvPr/>
        </p:nvSpPr>
        <p:spPr>
          <a:xfrm>
            <a:off x="1330122" y="223325"/>
            <a:ext cx="973680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dirty="0"/>
              <a:t>Improving Productivity </a:t>
            </a:r>
            <a:r>
              <a:rPr lang="en-AU" dirty="0"/>
              <a:t>mapping data for BASIX use</a:t>
            </a:r>
            <a:endParaRPr dirty="0"/>
          </a:p>
        </p:txBody>
      </p:sp>
      <p:sp>
        <p:nvSpPr>
          <p:cNvPr id="644" name="As all BASIX submitters know, BASIX requires detailed environmental, water usage, waste, electrical data - the IFC source model needs to be multi-disciplinary!…">
            <a:extLst>
              <a:ext uri="{FF2B5EF4-FFF2-40B4-BE49-F238E27FC236}">
                <a16:creationId xmlns:a16="http://schemas.microsoft.com/office/drawing/2014/main" id="{7B700F2C-0633-EE3B-3D33-CE0F41BA083B}"/>
              </a:ext>
            </a:extLst>
          </p:cNvPr>
          <p:cNvSpPr txBox="1"/>
          <p:nvPr/>
        </p:nvSpPr>
        <p:spPr>
          <a:xfrm>
            <a:off x="932226" y="703909"/>
            <a:ext cx="10647022" cy="42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ctr">
              <a:spcBef>
                <a:spcPts val="600"/>
              </a:spcBef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AU" dirty="0">
                <a:latin typeface="Gill Sans MT" panose="020B0502020104020203" pitchFamily="34" charset="0"/>
              </a:rPr>
              <a:t>Mapping of BASIX Floor Types terminology to IFC standard and custom properties and Property Sets</a:t>
            </a:r>
            <a:endParaRPr dirty="0">
              <a:latin typeface="Gill Sans MT" panose="020B05020201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9481F2-B028-0EEF-379A-3F68B5E6F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01" y="1488408"/>
            <a:ext cx="10761447" cy="484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1486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8393B-0A56-FE0B-5DE6-7D3BFB58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TextBox 3">
            <a:extLst>
              <a:ext uri="{FF2B5EF4-FFF2-40B4-BE49-F238E27FC236}">
                <a16:creationId xmlns:a16="http://schemas.microsoft.com/office/drawing/2014/main" id="{81388A3B-2746-115B-9A40-B595F4EB7D7D}"/>
              </a:ext>
            </a:extLst>
          </p:cNvPr>
          <p:cNvSpPr txBox="1"/>
          <p:nvPr/>
        </p:nvSpPr>
        <p:spPr>
          <a:xfrm>
            <a:off x="1330122" y="223325"/>
            <a:ext cx="973680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dirty="0"/>
              <a:t>Improving Productivity </a:t>
            </a:r>
            <a:r>
              <a:rPr lang="en-AU" dirty="0"/>
              <a:t>mapping data for BASIX use</a:t>
            </a:r>
            <a:endParaRPr dirty="0"/>
          </a:p>
        </p:txBody>
      </p:sp>
      <p:sp>
        <p:nvSpPr>
          <p:cNvPr id="644" name="As all BASIX submitters know, BASIX requires detailed environmental, water usage, waste, electrical data - the IFC source model needs to be multi-disciplinary!…">
            <a:extLst>
              <a:ext uri="{FF2B5EF4-FFF2-40B4-BE49-F238E27FC236}">
                <a16:creationId xmlns:a16="http://schemas.microsoft.com/office/drawing/2014/main" id="{A411EE6D-A19A-B396-35D6-32303A9A6E9C}"/>
              </a:ext>
            </a:extLst>
          </p:cNvPr>
          <p:cNvSpPr txBox="1"/>
          <p:nvPr/>
        </p:nvSpPr>
        <p:spPr>
          <a:xfrm>
            <a:off x="932226" y="703909"/>
            <a:ext cx="10647022" cy="42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ctr">
              <a:spcBef>
                <a:spcPts val="600"/>
              </a:spcBef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AU" dirty="0">
                <a:latin typeface="Gill Sans MT" panose="020B0502020104020203" pitchFamily="34" charset="0"/>
              </a:rPr>
              <a:t>Mapping of BASIX Floor Types terminology to IFC standard and custom properties and Property Sets</a:t>
            </a:r>
            <a:endParaRPr dirty="0">
              <a:latin typeface="Gill Sans MT" panose="020B05020201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8EDDC9-1DC4-3C2E-B998-5C0046403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656" y="1050516"/>
            <a:ext cx="8287370" cy="548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9436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1D71-CFBA-A27C-5201-8DCBA0341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As all BASIX submitters know, BASIX requires detailed environmental, water usage, waste, electrical data - the IFC source model needs to be multi-disciplinary!…">
            <a:extLst>
              <a:ext uri="{FF2B5EF4-FFF2-40B4-BE49-F238E27FC236}">
                <a16:creationId xmlns:a16="http://schemas.microsoft.com/office/drawing/2014/main" id="{BE380162-02AF-389A-5284-E6546B277366}"/>
              </a:ext>
            </a:extLst>
          </p:cNvPr>
          <p:cNvSpPr txBox="1"/>
          <p:nvPr/>
        </p:nvSpPr>
        <p:spPr>
          <a:xfrm>
            <a:off x="954428" y="1067146"/>
            <a:ext cx="10647022" cy="42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ctr">
              <a:spcBef>
                <a:spcPts val="600"/>
              </a:spcBef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AU" dirty="0">
                <a:latin typeface="Gill Sans MT" panose="020B0502020104020203" pitchFamily="34" charset="0"/>
              </a:rPr>
              <a:t>Mapping of BASIX terminology to IFC standard and custom properties and Property Sets</a:t>
            </a:r>
            <a:endParaRPr dirty="0">
              <a:latin typeface="Gill Sans MT" panose="020B05020201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2F37FD-37F3-EE1D-1877-5F4253B96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8408"/>
            <a:ext cx="12192000" cy="22154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75D99B-59F4-7D2F-C732-D0CF458291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23"/>
          <a:stretch>
            <a:fillRect/>
          </a:stretch>
        </p:blipFill>
        <p:spPr>
          <a:xfrm>
            <a:off x="0" y="3778623"/>
            <a:ext cx="12192000" cy="1507961"/>
          </a:xfrm>
          <a:prstGeom prst="rect">
            <a:avLst/>
          </a:prstGeom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02CD22FE-60C8-D9D0-03FD-5C4AA7367724}"/>
              </a:ext>
            </a:extLst>
          </p:cNvPr>
          <p:cNvSpPr txBox="1"/>
          <p:nvPr/>
        </p:nvSpPr>
        <p:spPr>
          <a:xfrm>
            <a:off x="1330122" y="223325"/>
            <a:ext cx="973680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dirty="0"/>
              <a:t>Improving Productivity </a:t>
            </a:r>
            <a:r>
              <a:rPr lang="en-AU" dirty="0"/>
              <a:t>mapping data for BASIX use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607379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C1D8B-AABD-26BA-B179-FABCEFEC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As all BASIX submitters know, BASIX requires detailed environmental, water usage, waste, electrical data - the IFC source model needs to be multi-disciplinary!…">
            <a:extLst>
              <a:ext uri="{FF2B5EF4-FFF2-40B4-BE49-F238E27FC236}">
                <a16:creationId xmlns:a16="http://schemas.microsoft.com/office/drawing/2014/main" id="{D3A4BAA9-5CDA-7308-AFFF-3109B7415DF4}"/>
              </a:ext>
            </a:extLst>
          </p:cNvPr>
          <p:cNvSpPr txBox="1"/>
          <p:nvPr/>
        </p:nvSpPr>
        <p:spPr>
          <a:xfrm>
            <a:off x="954428" y="1067146"/>
            <a:ext cx="10647022" cy="42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ctr">
              <a:spcBef>
                <a:spcPts val="600"/>
              </a:spcBef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AU" dirty="0">
                <a:latin typeface="Gill Sans MT" panose="020B0502020104020203" pitchFamily="34" charset="0"/>
              </a:rPr>
              <a:t>Mapping of BASIX terminology to IFC standard and custom properties and Property Sets</a:t>
            </a:r>
            <a:endParaRPr dirty="0">
              <a:latin typeface="Gill Sans MT" panose="020B05020201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61E43E-70C0-91D8-E47B-B520F3C02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0428"/>
            <a:ext cx="12192000" cy="3497143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CE375EFE-2DFF-6AD9-8F97-077F5060AA2C}"/>
              </a:ext>
            </a:extLst>
          </p:cNvPr>
          <p:cNvSpPr txBox="1"/>
          <p:nvPr/>
        </p:nvSpPr>
        <p:spPr>
          <a:xfrm>
            <a:off x="1330122" y="223325"/>
            <a:ext cx="973680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dirty="0"/>
              <a:t>Improving Productivity </a:t>
            </a:r>
            <a:r>
              <a:rPr lang="en-AU" dirty="0"/>
              <a:t>mapping data for BASIX use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602042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F0B32-2C8E-DC6D-160C-31375F9DE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6B96C3-ACA7-86C9-3DDE-803651831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82" y="101785"/>
            <a:ext cx="9769288" cy="599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3428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FFEB4-C64C-8DC2-4F52-50A33E99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A8BCAC-552B-704E-4D5E-A3459AF6D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81" y="761934"/>
            <a:ext cx="6460271" cy="5729685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5F13641B-F0B1-BB64-74FE-D4599606760D}"/>
              </a:ext>
            </a:extLst>
          </p:cNvPr>
          <p:cNvSpPr txBox="1"/>
          <p:nvPr/>
        </p:nvSpPr>
        <p:spPr>
          <a:xfrm>
            <a:off x="1330122" y="223325"/>
            <a:ext cx="973680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lang="en-AU" dirty="0"/>
              <a:t>Back end coding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542946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F068-6FD3-08B8-0ADB-D7193FA4B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41026F-6067-5B44-B3E2-4EC777EA9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87" y="1547550"/>
            <a:ext cx="10574226" cy="3762900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8F981426-428F-1DE9-9834-05B4DC171730}"/>
              </a:ext>
            </a:extLst>
          </p:cNvPr>
          <p:cNvSpPr txBox="1"/>
          <p:nvPr/>
        </p:nvSpPr>
        <p:spPr>
          <a:xfrm>
            <a:off x="1330122" y="223325"/>
            <a:ext cx="973680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lang="en-AU" dirty="0"/>
              <a:t>Back end coding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417397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7941-B2BB-9E3C-85A1-A3C487EA9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6BF76F-A041-9819-3F77-96ADECE0F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185" y="283086"/>
            <a:ext cx="8021169" cy="40867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C473E2-6302-C513-8B63-4F334791E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85" y="4441551"/>
            <a:ext cx="6897063" cy="2314898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2E796E36-A9B2-DF9B-63D9-CE94F4951D0D}"/>
              </a:ext>
            </a:extLst>
          </p:cNvPr>
          <p:cNvSpPr txBox="1"/>
          <p:nvPr/>
        </p:nvSpPr>
        <p:spPr>
          <a:xfrm>
            <a:off x="1424251" y="0"/>
            <a:ext cx="973680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lang="en-AU" dirty="0"/>
              <a:t>Back end coding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768188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180FE-DD9B-03FD-6E26-FFC0A6C79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CA6EFA-A1E5-F7B6-42D9-C20AC390B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231" y="1511030"/>
            <a:ext cx="9336875" cy="3133785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C5CE90C5-AEEB-176D-CF33-A6A573A7C446}"/>
              </a:ext>
            </a:extLst>
          </p:cNvPr>
          <p:cNvSpPr txBox="1"/>
          <p:nvPr/>
        </p:nvSpPr>
        <p:spPr>
          <a:xfrm>
            <a:off x="1330122" y="223325"/>
            <a:ext cx="973680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lang="en-AU" dirty="0"/>
              <a:t>Back end coding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901131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0710-86F3-E5C7-CC93-282F0A48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DF59AD-9F1C-7969-5426-019DED53A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92" y="323521"/>
            <a:ext cx="5623362" cy="5981163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DC475EF4-7146-E850-1BC6-4BB753DAD540}"/>
              </a:ext>
            </a:extLst>
          </p:cNvPr>
          <p:cNvSpPr txBox="1"/>
          <p:nvPr/>
        </p:nvSpPr>
        <p:spPr>
          <a:xfrm>
            <a:off x="2730136" y="61901"/>
            <a:ext cx="6731728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dirty="0"/>
              <a:t>Improving Productivity using IDS</a:t>
            </a:r>
          </a:p>
        </p:txBody>
      </p:sp>
    </p:spTree>
    <p:extLst>
      <p:ext uri="{BB962C8B-B14F-4D97-AF65-F5344CB8AC3E}">
        <p14:creationId xmlns:p14="http://schemas.microsoft.com/office/powerpoint/2010/main" val="106952942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374" y="1116072"/>
            <a:ext cx="6311776" cy="5413127"/>
          </a:xfrm>
          <a:prstGeom prst="rect">
            <a:avLst/>
          </a:prstGeom>
          <a:ln w="12700">
            <a:miter lim="400000"/>
          </a:ln>
        </p:spPr>
      </p:pic>
      <p:sp>
        <p:nvSpPr>
          <p:cNvPr id="619" name="BASIX magic"/>
          <p:cNvSpPr/>
          <p:nvPr/>
        </p:nvSpPr>
        <p:spPr>
          <a:xfrm>
            <a:off x="9527662" y="3822636"/>
            <a:ext cx="1651001" cy="812801"/>
          </a:xfrm>
          <a:prstGeom prst="wedgeEllipseCallout">
            <a:avLst>
              <a:gd name="adj1" fmla="val -88631"/>
              <a:gd name="adj2" fmla="val 16176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4" tIns="71434" rIns="71434" bIns="71434" anchor="ctr"/>
          <a:lstStyle/>
          <a:p>
            <a:pPr algn="ctr"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BASIX </a:t>
            </a:r>
            <a:r>
              <a:rPr>
                <a:solidFill>
                  <a:schemeClr val="accent5"/>
                </a:solidFill>
              </a:rPr>
              <a:t>magic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3A72088E-8BCB-8E65-708A-4F8286D16EE1}"/>
              </a:ext>
            </a:extLst>
          </p:cNvPr>
          <p:cNvSpPr txBox="1"/>
          <p:nvPr/>
        </p:nvSpPr>
        <p:spPr>
          <a:xfrm>
            <a:off x="866775" y="409782"/>
            <a:ext cx="9982200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lang="en-AU" dirty="0"/>
              <a:t>Running the model data extract to BASIX website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604939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6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600000">
                                      <p:cBhvr>
                                        <p:cTn id="7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600000">
                                      <p:cBhvr>
                                        <p:cTn id="8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600000">
                                      <p:cBhvr>
                                        <p:cTn id="9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300000">
                                      <p:cBhvr>
                                        <p:cTn id="10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" grpId="0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92DE-7D03-D107-35C5-6BC1D5C4F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webClause1.1.jpg" descr="webClause1.1.jpg">
            <a:extLst>
              <a:ext uri="{FF2B5EF4-FFF2-40B4-BE49-F238E27FC236}">
                <a16:creationId xmlns:a16="http://schemas.microsoft.com/office/drawing/2014/main" id="{F553633A-FD01-A893-2E79-0C881D5CC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780" y="371475"/>
            <a:ext cx="7752951" cy="593062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6514A9D-513C-43AE-93BC-896C35194EAA}"/>
              </a:ext>
            </a:extLst>
          </p:cNvPr>
          <p:cNvSpPr/>
          <p:nvPr/>
        </p:nvSpPr>
        <p:spPr>
          <a:xfrm>
            <a:off x="1584780" y="2194920"/>
            <a:ext cx="1269489" cy="267368"/>
          </a:xfrm>
          <a:prstGeom prst="roundRect">
            <a:avLst/>
          </a:prstGeom>
          <a:noFill/>
          <a:ln w="31750" cap="flat">
            <a:solidFill>
              <a:srgbClr val="FF0000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4" tIns="71434" rIns="71434" bIns="71434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012151793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3" name="webClause1.2.jpg" descr="webClause1.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880" y="321123"/>
            <a:ext cx="7147820" cy="6215753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00AD3B-788D-415B-A47C-5E1DA0D4A3E2}"/>
              </a:ext>
            </a:extLst>
          </p:cNvPr>
          <p:cNvSpPr/>
          <p:nvPr/>
        </p:nvSpPr>
        <p:spPr>
          <a:xfrm>
            <a:off x="3545974" y="3068387"/>
            <a:ext cx="1347537" cy="267368"/>
          </a:xfrm>
          <a:prstGeom prst="roundRect">
            <a:avLst/>
          </a:prstGeom>
          <a:noFill/>
          <a:ln w="31750" cap="flat">
            <a:solidFill>
              <a:srgbClr val="FF0000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4" tIns="71434" rIns="71434" bIns="71434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843D6CE-624A-435B-5A12-CBDB3248FB02}"/>
              </a:ext>
            </a:extLst>
          </p:cNvPr>
          <p:cNvGrpSpPr/>
          <p:nvPr/>
        </p:nvGrpSpPr>
        <p:grpSpPr>
          <a:xfrm>
            <a:off x="1702459" y="382058"/>
            <a:ext cx="7746336" cy="5578134"/>
            <a:chOff x="1626259" y="-8467"/>
            <a:chExt cx="7746336" cy="5578134"/>
          </a:xfrm>
        </p:grpSpPr>
        <p:pic>
          <p:nvPicPr>
            <p:cNvPr id="625" name="webClause1.3.jpg" descr="webClause1.3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26259" y="-8467"/>
              <a:ext cx="7746336" cy="557813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9C8ABF0-73D6-2D88-CC97-75F6E56E5D1F}"/>
                </a:ext>
              </a:extLst>
            </p:cNvPr>
            <p:cNvSpPr/>
            <p:nvPr/>
          </p:nvSpPr>
          <p:spPr>
            <a:xfrm>
              <a:off x="4959793" y="2979316"/>
              <a:ext cx="1347537" cy="267368"/>
            </a:xfrm>
            <a:prstGeom prst="roundRect">
              <a:avLst/>
            </a:prstGeom>
            <a:noFill/>
            <a:ln w="31750" cap="flat">
              <a:solidFill>
                <a:srgbClr val="FF0000"/>
              </a:solidFill>
              <a:prstDash val="solid"/>
              <a:round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4" tIns="71434" rIns="71434" bIns="71434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A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27C27CA-EF22-145F-8283-B9E3F1911F16}"/>
              </a:ext>
            </a:extLst>
          </p:cNvPr>
          <p:cNvGrpSpPr/>
          <p:nvPr/>
        </p:nvGrpSpPr>
        <p:grpSpPr>
          <a:xfrm>
            <a:off x="1990296" y="340133"/>
            <a:ext cx="7163230" cy="6177733"/>
            <a:chOff x="1628345" y="-1"/>
            <a:chExt cx="7733009" cy="6653984"/>
          </a:xfrm>
        </p:grpSpPr>
        <p:pic>
          <p:nvPicPr>
            <p:cNvPr id="627" name="webClause1.4.jpg" descr="webClause1.4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28345" y="-1"/>
              <a:ext cx="7733009" cy="665398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CBB9A220-CA30-FD02-6056-0D162B6C7395}"/>
                </a:ext>
              </a:extLst>
            </p:cNvPr>
            <p:cNvSpPr/>
            <p:nvPr/>
          </p:nvSpPr>
          <p:spPr>
            <a:xfrm>
              <a:off x="6374642" y="2979315"/>
              <a:ext cx="1347537" cy="267368"/>
            </a:xfrm>
            <a:prstGeom prst="roundRect">
              <a:avLst/>
            </a:prstGeom>
            <a:noFill/>
            <a:ln w="31750" cap="flat">
              <a:solidFill>
                <a:srgbClr val="FF0000"/>
              </a:solidFill>
              <a:prstDash val="solid"/>
              <a:round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4" tIns="71434" rIns="71434" bIns="71434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A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BAC5576-9AE2-9E5B-8929-AA614867DDCA}"/>
              </a:ext>
            </a:extLst>
          </p:cNvPr>
          <p:cNvGrpSpPr/>
          <p:nvPr/>
        </p:nvGrpSpPr>
        <p:grpSpPr>
          <a:xfrm>
            <a:off x="1871423" y="749999"/>
            <a:ext cx="7386877" cy="5214989"/>
            <a:chOff x="1871423" y="749999"/>
            <a:chExt cx="7386877" cy="5214989"/>
          </a:xfrm>
        </p:grpSpPr>
        <p:pic>
          <p:nvPicPr>
            <p:cNvPr id="629" name="webClause2.1.jpg" descr="webClause2.1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71423" y="749999"/>
              <a:ext cx="7386877" cy="5214989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5F9BCE1-073E-E4A5-EEC1-C53D1CCD8A42}"/>
                </a:ext>
              </a:extLst>
            </p:cNvPr>
            <p:cNvSpPr/>
            <p:nvPr/>
          </p:nvSpPr>
          <p:spPr>
            <a:xfrm>
              <a:off x="2293565" y="3602944"/>
              <a:ext cx="1284279" cy="250507"/>
            </a:xfrm>
            <a:prstGeom prst="roundRect">
              <a:avLst/>
            </a:prstGeom>
            <a:noFill/>
            <a:ln w="31750" cap="flat">
              <a:solidFill>
                <a:srgbClr val="FF0000"/>
              </a:solidFill>
              <a:prstDash val="solid"/>
              <a:round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4" tIns="71434" rIns="71434" bIns="71434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A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84D699E-9DF8-B8EB-46DA-FCE781090918}"/>
              </a:ext>
            </a:extLst>
          </p:cNvPr>
          <p:cNvGrpSpPr/>
          <p:nvPr/>
        </p:nvGrpSpPr>
        <p:grpSpPr>
          <a:xfrm>
            <a:off x="1683701" y="420158"/>
            <a:ext cx="7749777" cy="5728656"/>
            <a:chOff x="1626551" y="-8467"/>
            <a:chExt cx="7749777" cy="5728656"/>
          </a:xfrm>
        </p:grpSpPr>
        <p:pic>
          <p:nvPicPr>
            <p:cNvPr id="631" name="webClause2.2.jpg" descr="webClause2.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26551" y="-8467"/>
              <a:ext cx="7749777" cy="5728656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C8855C52-7C61-AA01-D9EE-B71D02F8AEF0}"/>
                </a:ext>
              </a:extLst>
            </p:cNvPr>
            <p:cNvSpPr/>
            <p:nvPr/>
          </p:nvSpPr>
          <p:spPr>
            <a:xfrm>
              <a:off x="3507874" y="2973137"/>
              <a:ext cx="1347537" cy="267368"/>
            </a:xfrm>
            <a:prstGeom prst="roundRect">
              <a:avLst/>
            </a:prstGeom>
            <a:noFill/>
            <a:ln w="31750" cap="flat">
              <a:solidFill>
                <a:srgbClr val="FF0000"/>
              </a:solidFill>
              <a:prstDash val="solid"/>
              <a:round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4" tIns="71434" rIns="71434" bIns="71434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A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6B54C94-4835-CD76-9746-80174F5C9923}"/>
              </a:ext>
            </a:extLst>
          </p:cNvPr>
          <p:cNvGrpSpPr/>
          <p:nvPr/>
        </p:nvGrpSpPr>
        <p:grpSpPr>
          <a:xfrm>
            <a:off x="2082644" y="336885"/>
            <a:ext cx="7292362" cy="6014214"/>
            <a:chOff x="1620630" y="-18145"/>
            <a:chExt cx="7753735" cy="6465496"/>
          </a:xfrm>
        </p:grpSpPr>
        <p:pic>
          <p:nvPicPr>
            <p:cNvPr id="634" name="pasted-movie.png" descr="pasted-movi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20630" y="-18145"/>
              <a:ext cx="7753735" cy="6465496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CAF410A0-CFAB-47A1-F2B6-7BC55D9504CD}"/>
                </a:ext>
              </a:extLst>
            </p:cNvPr>
            <p:cNvSpPr/>
            <p:nvPr/>
          </p:nvSpPr>
          <p:spPr>
            <a:xfrm>
              <a:off x="2191879" y="2781607"/>
              <a:ext cx="1347537" cy="267368"/>
            </a:xfrm>
            <a:prstGeom prst="roundRect">
              <a:avLst/>
            </a:prstGeom>
            <a:noFill/>
            <a:ln w="31750" cap="flat">
              <a:solidFill>
                <a:srgbClr val="FF0000"/>
              </a:solidFill>
              <a:prstDash val="solid"/>
              <a:round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4" tIns="71434" rIns="71434" bIns="71434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A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pasted-movie.png" descr="pasted-movie.png"/>
          <p:cNvPicPr>
            <a:picLocks noChangeAspect="1"/>
          </p:cNvPicPr>
          <p:nvPr/>
        </p:nvPicPr>
        <p:blipFill>
          <a:blip r:embed="rId2"/>
          <a:srcRect l="681" b="1680"/>
          <a:stretch>
            <a:fillRect/>
          </a:stretch>
        </p:blipFill>
        <p:spPr>
          <a:xfrm>
            <a:off x="1848617" y="302785"/>
            <a:ext cx="6971533" cy="608194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9B5A9C-19E4-8AA9-212A-55ECD7E48B50}"/>
              </a:ext>
            </a:extLst>
          </p:cNvPr>
          <p:cNvSpPr/>
          <p:nvPr/>
        </p:nvSpPr>
        <p:spPr>
          <a:xfrm>
            <a:off x="3532587" y="2787786"/>
            <a:ext cx="1347537" cy="267368"/>
          </a:xfrm>
          <a:prstGeom prst="roundRect">
            <a:avLst/>
          </a:prstGeom>
          <a:noFill/>
          <a:ln w="31750" cap="flat">
            <a:solidFill>
              <a:srgbClr val="FF0000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4" tIns="71434" rIns="71434" bIns="71434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ED583-CBEA-F8F9-4BCE-CF855F61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6F4C96-0609-C86B-E02D-5D02849B9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150256"/>
            <a:ext cx="6401454" cy="4560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D8E51F-1E00-4F2D-0631-7CD9282CA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071" y="1077816"/>
            <a:ext cx="6058554" cy="42881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03ADF4-41AA-8C36-301F-4F1753B84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710" y="2117934"/>
            <a:ext cx="5910915" cy="41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076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TextBox 3"/>
          <p:cNvSpPr txBox="1"/>
          <p:nvPr/>
        </p:nvSpPr>
        <p:spPr>
          <a:xfrm>
            <a:off x="1997753" y="149962"/>
            <a:ext cx="6731728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lang="en-AU" dirty="0"/>
              <a:t>Potential n</a:t>
            </a:r>
            <a:r>
              <a:rPr dirty="0" err="1"/>
              <a:t>ext</a:t>
            </a:r>
            <a:r>
              <a:rPr dirty="0"/>
              <a:t> </a:t>
            </a:r>
            <a:r>
              <a:rPr lang="en-AU" dirty="0"/>
              <a:t>s</a:t>
            </a:r>
            <a:r>
              <a:rPr dirty="0" err="1"/>
              <a:t>teps</a:t>
            </a:r>
            <a:endParaRPr dirty="0"/>
          </a:p>
        </p:txBody>
      </p:sp>
      <p:sp>
        <p:nvSpPr>
          <p:cNvPr id="647" name="Convince ABCB, NABERS, BASIX, industry to invest in a complete solution…"/>
          <p:cNvSpPr txBox="1"/>
          <p:nvPr/>
        </p:nvSpPr>
        <p:spPr>
          <a:xfrm>
            <a:off x="794084" y="1003105"/>
            <a:ext cx="8296128" cy="5004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AU" dirty="0">
                <a:latin typeface="Gill Sans MT" panose="020B0502020104020203" pitchFamily="34" charset="0"/>
              </a:rPr>
              <a:t>Seek</a:t>
            </a:r>
            <a:r>
              <a:rPr dirty="0">
                <a:latin typeface="Gill Sans MT" panose="020B0502020104020203" pitchFamily="34" charset="0"/>
              </a:rPr>
              <a:t> ABCB, NABERS, BASIX</a:t>
            </a:r>
            <a:r>
              <a:rPr lang="en-AU" dirty="0">
                <a:latin typeface="Gill Sans MT" panose="020B0502020104020203" pitchFamily="34" charset="0"/>
              </a:rPr>
              <a:t> and </a:t>
            </a:r>
            <a:r>
              <a:rPr dirty="0">
                <a:latin typeface="Gill Sans MT" panose="020B0502020104020203" pitchFamily="34" charset="0"/>
              </a:rPr>
              <a:t>industry </a:t>
            </a:r>
            <a:r>
              <a:rPr lang="en-AU" dirty="0">
                <a:latin typeface="Gill Sans MT" panose="020B0502020104020203" pitchFamily="34" charset="0"/>
              </a:rPr>
              <a:t>support </a:t>
            </a:r>
            <a:r>
              <a:rPr dirty="0">
                <a:latin typeface="Gill Sans MT" panose="020B0502020104020203" pitchFamily="34" charset="0"/>
              </a:rPr>
              <a:t>to invest in a complete solution</a:t>
            </a:r>
            <a:endParaRPr lang="en-AU" dirty="0">
              <a:latin typeface="Gill Sans MT" panose="020B0502020104020203" pitchFamily="34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dirty="0">
              <a:latin typeface="Gill Sans MT" panose="020B0502020104020203" pitchFamily="34" charset="0"/>
            </a:endParaRP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SzPct val="100000"/>
              <a:buChar char="•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dirty="0">
                <a:latin typeface="Gill Sans MT" panose="020B0502020104020203" pitchFamily="34" charset="0"/>
              </a:rPr>
              <a:t>We have already a working team, and need government, product manufacturers and industry associations to support the concept as a national initiative</a:t>
            </a:r>
            <a:endParaRPr lang="en-AU" dirty="0">
              <a:latin typeface="Gill Sans MT" panose="020B0502020104020203" pitchFamily="34" charset="0"/>
            </a:endParaRP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SzPct val="100000"/>
              <a:buChar char="•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dirty="0">
              <a:latin typeface="Gill Sans MT" panose="020B0502020104020203" pitchFamily="34" charset="0"/>
            </a:endParaRP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SzPct val="100000"/>
              <a:buChar char="•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dirty="0">
                <a:latin typeface="Gill Sans MT" panose="020B0502020104020203" pitchFamily="34" charset="0"/>
              </a:rPr>
              <a:t>Our </a:t>
            </a:r>
            <a:r>
              <a:rPr b="1" dirty="0">
                <a:latin typeface="Gill Sans MT" panose="020B0502020104020203" pitchFamily="34" charset="0"/>
                <a:ea typeface="Gill Sans SemiBold"/>
                <a:cs typeface="Gill Sans SemiBold"/>
                <a:sym typeface="Gill Sans SemiBold"/>
              </a:rPr>
              <a:t>prototype highlights the productivity gain to both submitters and assessors</a:t>
            </a:r>
            <a:r>
              <a:rPr b="1" dirty="0">
                <a:latin typeface="Gill Sans MT" panose="020B0502020104020203" pitchFamily="34" charset="0"/>
              </a:rPr>
              <a:t> </a:t>
            </a:r>
            <a:r>
              <a:rPr dirty="0">
                <a:latin typeface="Gill Sans MT" panose="020B0502020104020203" pitchFamily="34" charset="0"/>
              </a:rPr>
              <a:t>as the model becomes a reliable, single source of data required by BASIX.</a:t>
            </a:r>
            <a:endParaRPr lang="en-AU" dirty="0">
              <a:latin typeface="Gill Sans MT" panose="020B0502020104020203" pitchFamily="34" charset="0"/>
            </a:endParaRP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SzPct val="100000"/>
              <a:buChar char="•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dirty="0">
              <a:latin typeface="Gill Sans MT" panose="020B0502020104020203" pitchFamily="34" charset="0"/>
            </a:endParaRP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SzPct val="100000"/>
              <a:buChar char="•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dirty="0">
                <a:latin typeface="Gill Sans MT" panose="020B0502020104020203" pitchFamily="34" charset="0"/>
              </a:rPr>
              <a:t>This project can introduce to Australian building authorities the benefits of model</a:t>
            </a:r>
            <a:r>
              <a:rPr lang="en-US" dirty="0">
                <a:latin typeface="Gill Sans MT" panose="020B0502020104020203" pitchFamily="34" charset="0"/>
              </a:rPr>
              <a:t>-</a:t>
            </a:r>
            <a:r>
              <a:rPr dirty="0">
                <a:latin typeface="Gill Sans MT" panose="020B0502020104020203" pitchFamily="34" charset="0"/>
              </a:rPr>
              <a:t>based code checking adding a further layer of efficiency addressing the current low productivity of the building industry</a:t>
            </a:r>
            <a:endParaRPr lang="en-AU" dirty="0">
              <a:latin typeface="Gill Sans MT" panose="020B0502020104020203" pitchFamily="34" charset="0"/>
            </a:endParaRP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SzPct val="100000"/>
              <a:buChar char="•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lang="en-US" dirty="0">
              <a:latin typeface="Gill Sans MT" panose="020B0502020104020203" pitchFamily="34" charset="0"/>
            </a:endParaRP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SzPct val="100000"/>
              <a:buChar char="•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US" dirty="0">
                <a:latin typeface="Gill Sans MT" panose="020B0502020104020203" pitchFamily="34" charset="0"/>
              </a:rPr>
              <a:t>A </a:t>
            </a:r>
            <a:r>
              <a:rPr lang="en-US" b="1" dirty="0">
                <a:latin typeface="Gill Sans MT" panose="020B0502020104020203" pitchFamily="34" charset="0"/>
              </a:rPr>
              <a:t>bSDD</a:t>
            </a:r>
            <a:r>
              <a:rPr lang="en-US" dirty="0">
                <a:latin typeface="Gill Sans MT" panose="020B0502020104020203" pitchFamily="34" charset="0"/>
              </a:rPr>
              <a:t> library of </a:t>
            </a:r>
            <a:r>
              <a:rPr lang="en-US" b="1" dirty="0">
                <a:latin typeface="Gill Sans MT" panose="020B0502020104020203" pitchFamily="34" charset="0"/>
              </a:rPr>
              <a:t>BASIX specific terms </a:t>
            </a:r>
            <a:r>
              <a:rPr lang="en-US" dirty="0">
                <a:latin typeface="Gill Sans MT" panose="020B0502020104020203" pitchFamily="34" charset="0"/>
              </a:rPr>
              <a:t>can be created to support web access and project consistency.</a:t>
            </a:r>
            <a:endParaRPr dirty="0">
              <a:latin typeface="Gill Sans MT" panose="020B0502020104020203" pitchFamily="34" charset="0"/>
            </a:endParaRPr>
          </a:p>
        </p:txBody>
      </p:sp>
      <p:pic>
        <p:nvPicPr>
          <p:cNvPr id="652" name="webClause1.3.jpg" descr="webClause1.3.jpg"/>
          <p:cNvPicPr>
            <a:picLocks noChangeAspect="1"/>
          </p:cNvPicPr>
          <p:nvPr/>
        </p:nvPicPr>
        <p:blipFill>
          <a:blip r:embed="rId2"/>
          <a:srcRect r="14331"/>
          <a:stretch>
            <a:fillRect/>
          </a:stretch>
        </p:blipFill>
        <p:spPr>
          <a:xfrm>
            <a:off x="9241346" y="149962"/>
            <a:ext cx="2411168" cy="2026744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AF7341D-6092-2B55-24AB-EC4E0017B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346" y="2355283"/>
            <a:ext cx="2411168" cy="20667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ADF3A7-184B-4491-1E9B-B49B3DBC5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1346" y="4600575"/>
            <a:ext cx="2411168" cy="17176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C9F07-B928-8A3F-0ABB-F73E7D6D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TextBox 3">
            <a:extLst>
              <a:ext uri="{FF2B5EF4-FFF2-40B4-BE49-F238E27FC236}">
                <a16:creationId xmlns:a16="http://schemas.microsoft.com/office/drawing/2014/main" id="{26646D53-A845-3019-E82A-0730C58B4014}"/>
              </a:ext>
            </a:extLst>
          </p:cNvPr>
          <p:cNvSpPr txBox="1"/>
          <p:nvPr/>
        </p:nvSpPr>
        <p:spPr>
          <a:xfrm>
            <a:off x="1497263" y="409782"/>
            <a:ext cx="856113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lang="en-US" dirty="0"/>
              <a:t>Relevance for code compliance other uses</a:t>
            </a:r>
            <a:endParaRPr dirty="0"/>
          </a:p>
        </p:txBody>
      </p:sp>
      <p:sp>
        <p:nvSpPr>
          <p:cNvPr id="644" name="As all BASIX submitters know, BASIX requires detailed environmental, water usage, waste, electrical data - the IFC source model needs to be multi-disciplinary!…">
            <a:extLst>
              <a:ext uri="{FF2B5EF4-FFF2-40B4-BE49-F238E27FC236}">
                <a16:creationId xmlns:a16="http://schemas.microsoft.com/office/drawing/2014/main" id="{FB656E69-C0C3-9EFF-C1E9-DFAE2EB014A5}"/>
              </a:ext>
            </a:extLst>
          </p:cNvPr>
          <p:cNvSpPr txBox="1"/>
          <p:nvPr/>
        </p:nvSpPr>
        <p:spPr>
          <a:xfrm>
            <a:off x="1497263" y="1133232"/>
            <a:ext cx="9804990" cy="4683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>
              <a:spcBef>
                <a:spcPts val="600"/>
              </a:spcBef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2000" dirty="0">
                <a:latin typeface="Gill Sans MT" panose="020B0502020104020203" pitchFamily="34" charset="0"/>
              </a:rPr>
              <a:t>Adopting the IFC model solution 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2000" dirty="0">
                <a:latin typeface="Gill Sans MT" panose="020B0502020104020203" pitchFamily="34" charset="0"/>
              </a:rPr>
              <a:t>facilitates incremental submission and testing</a:t>
            </a:r>
            <a:r>
              <a:rPr lang="en-US" sz="2000" dirty="0">
                <a:latin typeface="Gill Sans MT" panose="020B0502020104020203" pitchFamily="34" charset="0"/>
              </a:rPr>
              <a:t> during design phase</a:t>
            </a:r>
            <a:endParaRPr sz="2000" dirty="0">
              <a:latin typeface="Gill Sans MT" panose="020B0502020104020203" pitchFamily="34" charset="0"/>
            </a:endParaRP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2000" dirty="0">
                <a:latin typeface="Gill Sans MT" panose="020B0502020104020203" pitchFamily="34" charset="0"/>
              </a:rPr>
              <a:t>enhances services integration with the architectural models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2000" dirty="0">
                <a:latin typeface="Gill Sans MT" panose="020B0502020104020203" pitchFamily="34" charset="0"/>
              </a:rPr>
              <a:t>provides BASIX with precise (geo-referenced) geometric, spatial &amp; performance measures </a:t>
            </a:r>
            <a:endParaRPr lang="en-AU" sz="2000" dirty="0">
              <a:latin typeface="Gill Sans MT" panose="020B0502020104020203" pitchFamily="34" charset="0"/>
            </a:endParaRP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lang="en-AU" sz="2000" dirty="0">
              <a:latin typeface="Gill Sans MT" panose="020B0502020104020203" pitchFamily="34" charset="0"/>
            </a:endParaRP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AU" sz="2000" dirty="0">
                <a:latin typeface="Gill Sans MT" panose="020B0502020104020203" pitchFamily="34" charset="0"/>
              </a:rPr>
              <a:t>solution can be expanded for </a:t>
            </a:r>
            <a:r>
              <a:rPr lang="en-AU" sz="2000" b="1" dirty="0">
                <a:latin typeface="Gill Sans MT" panose="020B0502020104020203" pitchFamily="34" charset="0"/>
              </a:rPr>
              <a:t>other regulatory compliance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AU" sz="2000" dirty="0">
                <a:latin typeface="Gill Sans MT" panose="020B0502020104020203" pitchFamily="34" charset="0"/>
              </a:rPr>
              <a:t>Similarities with DA submission via the internet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AU" sz="2000" dirty="0">
                <a:latin typeface="Gill Sans MT" panose="020B0502020104020203" pitchFamily="34" charset="0"/>
              </a:rPr>
              <a:t>Parallel compliance method proposed for digital submission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US" sz="2000" dirty="0">
                <a:latin typeface="Gill Sans MT" panose="020B0502020104020203" pitchFamily="34" charset="0"/>
              </a:rPr>
              <a:t>Aim for 80% of project data to be accessed from the digital model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US" sz="2000" dirty="0">
                <a:latin typeface="Gill Sans MT" panose="020B0502020104020203" pitchFamily="34" charset="0"/>
              </a:rPr>
              <a:t>Some data for manual entry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lang="en-US" sz="2000" dirty="0">
              <a:latin typeface="Gill Sans MT" panose="020B0502020104020203" pitchFamily="34" charset="0"/>
            </a:endParaRP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US" sz="2000" dirty="0">
                <a:latin typeface="Gill Sans MT" panose="020B0502020104020203" pitchFamily="34" charset="0"/>
              </a:rPr>
              <a:t>Digital connections to </a:t>
            </a:r>
            <a:r>
              <a:rPr lang="en-US" sz="2000" b="1" dirty="0">
                <a:latin typeface="Gill Sans MT" panose="020B0502020104020203" pitchFamily="34" charset="0"/>
              </a:rPr>
              <a:t>cost, carbon calculations, asset management </a:t>
            </a:r>
            <a:r>
              <a:rPr lang="en-US" sz="2000" dirty="0">
                <a:latin typeface="Gill Sans MT" panose="020B0502020104020203" pitchFamily="34" charset="0"/>
              </a:rPr>
              <a:t>also available</a:t>
            </a:r>
            <a:endParaRPr sz="20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618137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gital Infrastructure Network:…">
            <a:extLst>
              <a:ext uri="{FF2B5EF4-FFF2-40B4-BE49-F238E27FC236}">
                <a16:creationId xmlns:a16="http://schemas.microsoft.com/office/drawing/2014/main" id="{391D023C-BF8B-0684-E901-E6A287FCAE2E}"/>
              </a:ext>
            </a:extLst>
          </p:cNvPr>
          <p:cNvSpPr txBox="1">
            <a:spLocks/>
          </p:cNvSpPr>
          <p:nvPr/>
        </p:nvSpPr>
        <p:spPr>
          <a:xfrm>
            <a:off x="2114549" y="505969"/>
            <a:ext cx="7666853" cy="5523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8744" tIns="108744" rIns="108744" bIns="108744" anchor="t">
            <a:normAutofit/>
          </a:bodyPr>
          <a:lstStyle>
            <a:lvl1pPr marL="0" marR="0" indent="0" algn="ctr" defTabSz="543665" rtl="0" latinLnBrk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cap="none" spc="0" baseline="0">
                <a:solidFill>
                  <a:srgbClr val="797979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indent="543667" algn="ctr" defTabSz="543665" rtl="0" latinLnBrk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cap="none" spc="0" baseline="0">
                <a:solidFill>
                  <a:srgbClr val="797979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1087334" algn="ctr" defTabSz="543665" rtl="0" latinLnBrk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cap="none" spc="0" baseline="0">
                <a:solidFill>
                  <a:srgbClr val="797979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1631006" algn="ctr" defTabSz="543665" rtl="0" latinLnBrk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cap="none" spc="0" baseline="0">
                <a:solidFill>
                  <a:srgbClr val="797979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2174671" algn="ctr" defTabSz="543665" rtl="0" latinLnBrk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cap="none" spc="0" baseline="0">
                <a:solidFill>
                  <a:srgbClr val="797979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1419929" marR="0" indent="-308679" algn="l" defTabSz="410764" rtl="0" latinLnBrk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00" b="0" i="0" u="none" strike="noStrike" cap="none" spc="0" baseline="0">
                <a:solidFill>
                  <a:srgbClr val="53585F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1642180" marR="0" indent="-308679" algn="l" defTabSz="410764" rtl="0" latinLnBrk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00" b="0" i="0" u="none" strike="noStrike" cap="none" spc="0" baseline="0">
                <a:solidFill>
                  <a:srgbClr val="53585F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1864430" marR="0" indent="-308679" algn="l" defTabSz="410764" rtl="0" latinLnBrk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00" b="0" i="0" u="none" strike="noStrike" cap="none" spc="0" baseline="0">
                <a:solidFill>
                  <a:srgbClr val="53585F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2086680" marR="0" indent="-308680" algn="l" defTabSz="410764" rtl="0" latinLnBrk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00" b="0" i="0" u="none" strike="noStrike" cap="none" spc="0" baseline="0">
                <a:solidFill>
                  <a:srgbClr val="53585F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357365" hangingPunct="1">
              <a:lnSpc>
                <a:spcPct val="90000"/>
              </a:lnSpc>
              <a:defRPr sz="435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lang="en-AU" sz="4350" b="1" dirty="0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rPr>
              <a:t>Improve Productivity using OpenBIM IFC for BASIX</a:t>
            </a:r>
            <a:endParaRPr lang="en-AU" sz="2784" b="1" dirty="0">
              <a:latin typeface="Gill Sans MT"/>
              <a:ea typeface="Gill Sans MT"/>
              <a:cs typeface="Gill Sans MT"/>
              <a:sym typeface="Gill Sans MT"/>
            </a:endParaRPr>
          </a:p>
          <a:p>
            <a:pPr defTabSz="357365" hangingPunct="1">
              <a:lnSpc>
                <a:spcPct val="90000"/>
              </a:lnSpc>
              <a:defRPr sz="2784" b="1">
                <a:latin typeface="Gill Sans MT"/>
                <a:ea typeface="Gill Sans MT"/>
                <a:cs typeface="Gill Sans MT"/>
                <a:sym typeface="Gill Sans MT"/>
              </a:defRPr>
            </a:pPr>
            <a:endParaRPr lang="en-AU" sz="2784" b="1" dirty="0">
              <a:latin typeface="Gill Sans MT"/>
              <a:ea typeface="Gill Sans MT"/>
              <a:cs typeface="Gill Sans MT"/>
              <a:sym typeface="Gill Sans MT"/>
            </a:endParaRPr>
          </a:p>
          <a:p>
            <a:pPr defTabSz="357365" hangingPunct="1">
              <a:lnSpc>
                <a:spcPct val="90000"/>
              </a:lnSpc>
              <a:defRPr sz="2784" b="1">
                <a:latin typeface="Gill Sans MT"/>
                <a:ea typeface="Gill Sans MT"/>
                <a:cs typeface="Gill Sans MT"/>
                <a:sym typeface="Gill Sans MT"/>
              </a:defRPr>
            </a:pPr>
            <a:endParaRPr lang="en-AU" sz="2784" b="1" dirty="0">
              <a:latin typeface="Gill Sans MT"/>
              <a:ea typeface="Gill Sans MT"/>
              <a:cs typeface="Gill Sans MT"/>
              <a:sym typeface="Gill Sans MT"/>
            </a:endParaRPr>
          </a:p>
          <a:p>
            <a:pPr defTabSz="357365" hangingPunct="1">
              <a:lnSpc>
                <a:spcPct val="90000"/>
              </a:lnSpc>
              <a:defRPr sz="2349"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lang="en-AU" sz="2349" dirty="0">
                <a:latin typeface="Gill Sans MT"/>
                <a:ea typeface="Gill Sans MT"/>
                <a:cs typeface="Gill Sans MT"/>
                <a:sym typeface="Gill Sans MT"/>
              </a:rPr>
              <a:t>Online meeting</a:t>
            </a:r>
          </a:p>
          <a:p>
            <a:pPr defTabSz="357365" hangingPunct="1">
              <a:lnSpc>
                <a:spcPct val="90000"/>
              </a:lnSpc>
              <a:defRPr sz="2349" i="1"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AU" sz="2349" i="1" dirty="0">
                <a:latin typeface="Gill Sans Light"/>
                <a:ea typeface="Gill Sans Light"/>
                <a:cs typeface="Gill Sans Light"/>
                <a:sym typeface="Gill Sans Light"/>
              </a:rPr>
              <a:t>14</a:t>
            </a:r>
            <a:r>
              <a:rPr lang="en-AU" sz="2349" i="1" baseline="30000" dirty="0">
                <a:latin typeface="Gill Sans Light"/>
                <a:ea typeface="Gill Sans Light"/>
                <a:cs typeface="Gill Sans Light"/>
                <a:sym typeface="Gill Sans Light"/>
              </a:rPr>
              <a:t>th</a:t>
            </a:r>
            <a:r>
              <a:rPr lang="en-AU" sz="2349" i="1" dirty="0">
                <a:latin typeface="Gill Sans Light"/>
                <a:ea typeface="Gill Sans Light"/>
                <a:cs typeface="Gill Sans Light"/>
                <a:sym typeface="Gill Sans Light"/>
              </a:rPr>
              <a:t> January 2026</a:t>
            </a:r>
            <a:endParaRPr lang="en-AU" sz="4785" b="1" dirty="0">
              <a:latin typeface="Gill Sans MT"/>
              <a:ea typeface="Gill Sans MT"/>
              <a:cs typeface="Gill Sans MT"/>
              <a:sym typeface="Gill Sans MT"/>
            </a:endParaRPr>
          </a:p>
          <a:p>
            <a:pPr defTabSz="357365" hangingPunct="1">
              <a:lnSpc>
                <a:spcPct val="90000"/>
              </a:lnSpc>
              <a:defRPr sz="2088" b="1"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lang="en-AU" sz="2088" dirty="0">
                <a:latin typeface="Gill Sans MT"/>
                <a:ea typeface="Gill Sans MT"/>
                <a:cs typeface="Gill Sans MT"/>
                <a:sym typeface="Gill Sans MT"/>
              </a:rPr>
              <a:t>John Mitchell:</a:t>
            </a:r>
            <a:r>
              <a:rPr lang="en-AU" sz="2088" b="1" dirty="0">
                <a:latin typeface="Gill Sans MT"/>
                <a:ea typeface="Gill Sans MT"/>
                <a:cs typeface="Gill Sans MT"/>
                <a:sym typeface="Gill Sans MT"/>
              </a:rPr>
              <a:t> </a:t>
            </a:r>
            <a:r>
              <a:rPr lang="en-AU" sz="2088" dirty="0">
                <a:latin typeface="Gill Sans Light"/>
                <a:ea typeface="Gill Sans Light"/>
                <a:cs typeface="Gill Sans Light"/>
                <a:sym typeface="Gill Sans Light"/>
              </a:rPr>
              <a:t>CQR</a:t>
            </a:r>
          </a:p>
          <a:p>
            <a:pPr defTabSz="357365" hangingPunct="1">
              <a:lnSpc>
                <a:spcPct val="90000"/>
              </a:lnSpc>
              <a:defRPr sz="2088" b="1"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lang="en-AU" sz="2088" dirty="0">
                <a:latin typeface="Gill Sans MT"/>
                <a:ea typeface="Gill Sans MT"/>
                <a:cs typeface="Gill Sans MT"/>
                <a:sym typeface="Gill Sans MT"/>
              </a:rPr>
              <a:t>Scott Beazley:</a:t>
            </a:r>
            <a:r>
              <a:rPr lang="en-AU" sz="2088" b="1" dirty="0">
                <a:latin typeface="Gill Sans MT"/>
                <a:ea typeface="Gill Sans MT"/>
                <a:cs typeface="Gill Sans MT"/>
                <a:sym typeface="Gill Sans MT"/>
              </a:rPr>
              <a:t> </a:t>
            </a:r>
            <a:r>
              <a:rPr lang="en-AU" sz="2088" dirty="0" err="1">
                <a:latin typeface="Gill Sans Light"/>
                <a:ea typeface="Gill Sans Light"/>
                <a:cs typeface="Gill Sans Light"/>
                <a:sym typeface="Gill Sans Light"/>
              </a:rPr>
              <a:t>GeometryGym</a:t>
            </a:r>
            <a:endParaRPr lang="en-AU" sz="2088" dirty="0">
              <a:latin typeface="Gill Sans Light"/>
              <a:ea typeface="Gill Sans Light"/>
              <a:cs typeface="Gill Sans Light"/>
              <a:sym typeface="Gill Sans Light"/>
            </a:endParaRPr>
          </a:p>
        </p:txBody>
      </p:sp>
      <p:sp>
        <p:nvSpPr>
          <p:cNvPr id="656" name="Thank You"/>
          <p:cNvSpPr txBox="1">
            <a:spLocks noGrp="1"/>
          </p:cNvSpPr>
          <p:nvPr>
            <p:ph type="title"/>
          </p:nvPr>
        </p:nvSpPr>
        <p:spPr>
          <a:xfrm>
            <a:off x="766375" y="4671830"/>
            <a:ext cx="10363200" cy="91277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500171">
              <a:defRPr sz="4600">
                <a:latin typeface="Gill Sans SemiBold"/>
                <a:ea typeface="Gill Sans SemiBold"/>
                <a:cs typeface="Gill Sans SemiBold"/>
                <a:sym typeface="Gill Sans SemiBold"/>
              </a:defRPr>
            </a:lvl1pPr>
          </a:lstStyle>
          <a:p>
            <a:r>
              <a:rPr dirty="0">
                <a:latin typeface="Gill Sans MT" panose="020B0502020104020203" pitchFamily="34" charset="0"/>
              </a:rPr>
              <a:t>Thank You</a:t>
            </a:r>
            <a:r>
              <a:rPr lang="en-AU" dirty="0">
                <a:latin typeface="Gill Sans MT" panose="020B0502020104020203" pitchFamily="34" charset="0"/>
              </a:rPr>
              <a:t>…..any questions?</a:t>
            </a:r>
            <a:endParaRPr dirty="0">
              <a:latin typeface="Gill Sans MT" panose="020B0502020104020203" pitchFamily="34" charset="0"/>
            </a:endParaRPr>
          </a:p>
        </p:txBody>
      </p:sp>
      <p:sp>
        <p:nvSpPr>
          <p:cNvPr id="657" name="please contact us if you are willing to support/participate/sponsor the project…"/>
          <p:cNvSpPr txBox="1">
            <a:spLocks noGrp="1"/>
          </p:cNvSpPr>
          <p:nvPr>
            <p:ph type="body" sz="quarter" idx="1"/>
          </p:nvPr>
        </p:nvSpPr>
        <p:spPr>
          <a:xfrm>
            <a:off x="1543051" y="5245163"/>
            <a:ext cx="8534400" cy="1236725"/>
          </a:xfrm>
          <a:prstGeom prst="rect">
            <a:avLst/>
          </a:prstGeom>
        </p:spPr>
        <p:txBody>
          <a:bodyPr/>
          <a:lstStyle/>
          <a:p>
            <a:pPr>
              <a:defRPr sz="1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  <a:p>
            <a:pPr>
              <a:defRPr>
                <a:latin typeface="Gill Sans"/>
                <a:ea typeface="Gill Sans"/>
                <a:cs typeface="Gill Sans"/>
                <a:sym typeface="Gill Sans"/>
              </a:defRPr>
            </a:pP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scott@geometrygym.com</a:t>
            </a:r>
          </a:p>
          <a:p>
            <a:pPr>
              <a:defRPr>
                <a:latin typeface="Gill Sans"/>
                <a:ea typeface="Gill Sans"/>
                <a:cs typeface="Gill Sans"/>
                <a:sym typeface="Gill Sans"/>
              </a:defRPr>
            </a:pP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john.mitchell@cqr.net.au</a:t>
            </a:r>
          </a:p>
        </p:txBody>
      </p:sp>
      <p:grpSp>
        <p:nvGrpSpPr>
          <p:cNvPr id="651" name="Better image.tif"/>
          <p:cNvGrpSpPr/>
          <p:nvPr/>
        </p:nvGrpSpPr>
        <p:grpSpPr>
          <a:xfrm>
            <a:off x="110641" y="2059743"/>
            <a:ext cx="2981475" cy="2416004"/>
            <a:chOff x="0" y="0"/>
            <a:chExt cx="3046444" cy="2387031"/>
          </a:xfrm>
        </p:grpSpPr>
        <p:pic>
          <p:nvPicPr>
            <p:cNvPr id="650" name="Better image.tif" descr="Better image.tif"/>
            <p:cNvPicPr>
              <a:picLocks noChangeAspect="1"/>
            </p:cNvPicPr>
            <p:nvPr/>
          </p:nvPicPr>
          <p:blipFill>
            <a:blip r:embed="rId4"/>
            <a:srcRect l="10285" r="10285" b="22076"/>
            <a:stretch>
              <a:fillRect/>
            </a:stretch>
          </p:blipFill>
          <p:spPr>
            <a:xfrm>
              <a:off x="203200" y="203200"/>
              <a:ext cx="2640045" cy="1942532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649" name="Better image.tif" descr="Better image.tif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" y="-1"/>
              <a:ext cx="3046446" cy="2387033"/>
            </a:xfrm>
            <a:prstGeom prst="rect">
              <a:avLst/>
            </a:prstGeom>
            <a:effectLst/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17C100A-38D4-049A-55B9-3505936FF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2641" y="2059743"/>
            <a:ext cx="3145697" cy="225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3174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9BCDD-1B6E-0BF4-8A1A-3707DA9E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TextBox 3">
            <a:extLst>
              <a:ext uri="{FF2B5EF4-FFF2-40B4-BE49-F238E27FC236}">
                <a16:creationId xmlns:a16="http://schemas.microsoft.com/office/drawing/2014/main" id="{AD51AFBD-C8D7-51E7-E23B-6B2CA0127387}"/>
              </a:ext>
            </a:extLst>
          </p:cNvPr>
          <p:cNvSpPr txBox="1"/>
          <p:nvPr/>
        </p:nvSpPr>
        <p:spPr>
          <a:xfrm>
            <a:off x="1497263" y="409782"/>
            <a:ext cx="856113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lang="en-US" dirty="0"/>
              <a:t>Relevance for other code compliance uses</a:t>
            </a:r>
            <a:endParaRPr dirty="0"/>
          </a:p>
        </p:txBody>
      </p:sp>
      <p:sp>
        <p:nvSpPr>
          <p:cNvPr id="644" name="As all BASIX submitters know, BASIX requires detailed environmental, water usage, waste, electrical data - the IFC source model needs to be multi-disciplinary!…">
            <a:extLst>
              <a:ext uri="{FF2B5EF4-FFF2-40B4-BE49-F238E27FC236}">
                <a16:creationId xmlns:a16="http://schemas.microsoft.com/office/drawing/2014/main" id="{2E2893DA-D5A1-C14C-0B39-4EFE3E6AEEE4}"/>
              </a:ext>
            </a:extLst>
          </p:cNvPr>
          <p:cNvSpPr txBox="1"/>
          <p:nvPr/>
        </p:nvSpPr>
        <p:spPr>
          <a:xfrm>
            <a:off x="1497263" y="2095034"/>
            <a:ext cx="8151472" cy="2760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>
              <a:spcBef>
                <a:spcPts val="600"/>
              </a:spcBef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US" sz="2000" dirty="0">
                <a:latin typeface="Gill Sans MT" panose="020B0502020104020203" pitchFamily="34" charset="0"/>
              </a:rPr>
              <a:t>Parts of the puzzle</a:t>
            </a:r>
            <a:r>
              <a:rPr sz="2000" dirty="0">
                <a:latin typeface="Gill Sans MT" panose="020B0502020104020203" pitchFamily="34" charset="0"/>
              </a:rPr>
              <a:t> 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US" sz="2000" dirty="0">
                <a:latin typeface="Gill Sans MT" panose="020B0502020104020203" pitchFamily="34" charset="0"/>
              </a:rPr>
              <a:t>Defined data for model and model objects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US" sz="2000" dirty="0">
                <a:latin typeface="Gill Sans MT" panose="020B0502020104020203" pitchFamily="34" charset="0"/>
              </a:rPr>
              <a:t>IDS for machine and human readable briefing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US" sz="2000" dirty="0">
                <a:latin typeface="Gill Sans MT" panose="020B0502020104020203" pitchFamily="34" charset="0"/>
              </a:rPr>
              <a:t>Data added to model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US" sz="2000" dirty="0">
                <a:latin typeface="Gill Sans MT" panose="020B0502020104020203" pitchFamily="34" charset="0"/>
              </a:rPr>
              <a:t>Export to IFC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US" sz="2000" dirty="0">
                <a:latin typeface="Gill Sans MT" panose="020B0502020104020203" pitchFamily="34" charset="0"/>
              </a:rPr>
              <a:t>Verification and validation of model data: Present, valid, correct.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US" sz="2000" dirty="0">
                <a:latin typeface="Gill Sans MT" panose="020B0502020104020203" pitchFamily="34" charset="0"/>
              </a:rPr>
              <a:t>Load into website</a:t>
            </a:r>
            <a:endParaRPr sz="20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198748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TextBox 3"/>
          <p:cNvSpPr txBox="1"/>
          <p:nvPr/>
        </p:nvSpPr>
        <p:spPr>
          <a:xfrm>
            <a:off x="876300" y="405549"/>
            <a:ext cx="9944100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lang="en-AU" dirty="0"/>
              <a:t>Components for creating</a:t>
            </a:r>
            <a:r>
              <a:rPr dirty="0"/>
              <a:t> the Prototype…</a:t>
            </a:r>
          </a:p>
        </p:txBody>
      </p:sp>
      <p:sp>
        <p:nvSpPr>
          <p:cNvPr id="616" name="Our next steps were to…"/>
          <p:cNvSpPr txBox="1"/>
          <p:nvPr/>
        </p:nvSpPr>
        <p:spPr>
          <a:xfrm>
            <a:off x="1761225" y="1830796"/>
            <a:ext cx="8669550" cy="3542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4" tIns="71434" rIns="71434" bIns="71434" anchor="ctr">
            <a:spAutoFit/>
          </a:bodyPr>
          <a:lstStyle/>
          <a:p>
            <a:pPr>
              <a:spcBef>
                <a:spcPts val="600"/>
              </a:spcBef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sz="2000" dirty="0">
                <a:latin typeface="Gill Sans MT" panose="020B0502020104020203" pitchFamily="34" charset="0"/>
              </a:rPr>
              <a:t>Our next steps were to</a:t>
            </a:r>
          </a:p>
          <a:p>
            <a:pPr marL="179999" indent="-179999">
              <a:spcBef>
                <a:spcPts val="600"/>
              </a:spcBef>
              <a:buSzPct val="100000"/>
              <a:buChar char="•"/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sz="2000" dirty="0">
                <a:latin typeface="Gill Sans MT" panose="020B0502020104020203" pitchFamily="34" charset="0"/>
              </a:rPr>
              <a:t>develop the IDS specification - in prototype - for most of Steps 1 - 3 of the BASIX portal</a:t>
            </a:r>
          </a:p>
          <a:p>
            <a:pPr marL="179999" indent="-179999">
              <a:spcBef>
                <a:spcPts val="600"/>
              </a:spcBef>
              <a:buSzPct val="100000"/>
              <a:buChar char="•"/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sz="2000" dirty="0">
                <a:latin typeface="Gill Sans MT" panose="020B0502020104020203" pitchFamily="34" charset="0"/>
              </a:rPr>
              <a:t>develop working code (using </a:t>
            </a:r>
            <a:r>
              <a:rPr sz="2000" dirty="0" err="1">
                <a:latin typeface="Gill Sans MT" panose="020B0502020104020203" pitchFamily="34" charset="0"/>
              </a:rPr>
              <a:t>ifcOpenShell</a:t>
            </a:r>
            <a:r>
              <a:rPr sz="2000" dirty="0">
                <a:latin typeface="Gill Sans MT" panose="020B0502020104020203" pitchFamily="34" charset="0"/>
              </a:rPr>
              <a:t> and Python) to generate the web data from the IDS specification  </a:t>
            </a:r>
          </a:p>
          <a:p>
            <a:pPr marL="179999" indent="-179999">
              <a:spcBef>
                <a:spcPts val="600"/>
              </a:spcBef>
              <a:buSzPct val="100000"/>
              <a:buChar char="•"/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sz="2000" dirty="0">
                <a:latin typeface="Gill Sans MT" panose="020B0502020104020203" pitchFamily="34" charset="0"/>
              </a:rPr>
              <a:t>using 2 residential models in Revit and ArchiCAD create test </a:t>
            </a:r>
            <a:r>
              <a:rPr sz="2000" dirty="0" err="1">
                <a:latin typeface="Gill Sans MT" panose="020B0502020104020203" pitchFamily="34" charset="0"/>
              </a:rPr>
              <a:t>ifc</a:t>
            </a:r>
            <a:r>
              <a:rPr sz="2000" dirty="0">
                <a:latin typeface="Gill Sans MT" panose="020B0502020104020203" pitchFamily="34" charset="0"/>
              </a:rPr>
              <a:t> exports using Blender’s IDS reporter, Solibri </a:t>
            </a:r>
            <a:r>
              <a:rPr sz="2000" dirty="0" err="1">
                <a:latin typeface="Gill Sans MT" panose="020B0502020104020203" pitchFamily="34" charset="0"/>
              </a:rPr>
              <a:t>etc</a:t>
            </a:r>
            <a:r>
              <a:rPr sz="2000" dirty="0">
                <a:latin typeface="Gill Sans MT" panose="020B0502020104020203" pitchFamily="34" charset="0"/>
              </a:rPr>
              <a:t> as requirements were specified</a:t>
            </a:r>
          </a:p>
          <a:p>
            <a:pPr>
              <a:spcBef>
                <a:spcPts val="100"/>
              </a:spcBef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endParaRPr sz="2000" dirty="0">
              <a:latin typeface="Gill Sans MT" panose="020B0502020104020203" pitchFamily="34" charset="0"/>
            </a:endParaRPr>
          </a:p>
          <a:p>
            <a:pPr>
              <a:spcBef>
                <a:spcPts val="600"/>
              </a:spcBef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sz="2000" dirty="0">
                <a:latin typeface="Gill Sans MT" panose="020B0502020104020203" pitchFamily="34" charset="0"/>
              </a:rPr>
              <a:t>As all this came to a point of definition Dion extended his Blender IFC native authoring app to connect the model data to a dummy BASIX web portal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pec = add_spec(&quot;1.2&quot;, &quot;Project Name”)…"/>
          <p:cNvSpPr txBox="1"/>
          <p:nvPr/>
        </p:nvSpPr>
        <p:spPr>
          <a:xfrm>
            <a:off x="1390775" y="1264476"/>
            <a:ext cx="10785126" cy="4943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4" tIns="71434" rIns="71434" bIns="71434" anchor="ctr">
            <a:spAutoFit/>
          </a:bodyPr>
          <a:lstStyle/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spec = </a:t>
            </a:r>
            <a:r>
              <a:rPr dirty="0" err="1"/>
              <a:t>add_spec</a:t>
            </a:r>
            <a:r>
              <a:rPr dirty="0"/>
              <a:t>("</a:t>
            </a:r>
            <a:r>
              <a:rPr b="1" dirty="0"/>
              <a:t>1.2</a:t>
            </a:r>
            <a:r>
              <a:rPr dirty="0"/>
              <a:t>", "</a:t>
            </a:r>
            <a:r>
              <a:rPr b="1" dirty="0"/>
              <a:t>Project Name</a:t>
            </a:r>
            <a:r>
              <a:rPr dirty="0"/>
              <a:t>”)</a:t>
            </a:r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 err="1"/>
              <a:t>spec.applicability.append</a:t>
            </a:r>
            <a:r>
              <a:rPr dirty="0"/>
              <a:t>(</a:t>
            </a:r>
            <a:r>
              <a:rPr dirty="0" err="1"/>
              <a:t>ifctester.ids.Entity</a:t>
            </a:r>
            <a:r>
              <a:rPr dirty="0"/>
              <a:t>(name=“</a:t>
            </a:r>
            <a:r>
              <a:rPr dirty="0">
                <a:solidFill>
                  <a:schemeClr val="accent1"/>
                </a:solidFill>
              </a:rPr>
              <a:t>IFCPROJECT</a:t>
            </a:r>
            <a:r>
              <a:rPr dirty="0"/>
              <a:t>"))</a:t>
            </a:r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 err="1"/>
              <a:t>spec.requirements.append</a:t>
            </a:r>
            <a:r>
              <a:rPr dirty="0"/>
              <a:t>(</a:t>
            </a:r>
            <a:r>
              <a:rPr dirty="0" err="1"/>
              <a:t>ifctester.ids.Attribute</a:t>
            </a:r>
            <a:r>
              <a:rPr dirty="0"/>
              <a:t>(name="</a:t>
            </a:r>
            <a:r>
              <a:rPr dirty="0" err="1">
                <a:solidFill>
                  <a:schemeClr val="accent1"/>
                </a:solidFill>
              </a:rPr>
              <a:t>LongName</a:t>
            </a:r>
            <a:r>
              <a:rPr dirty="0"/>
              <a:t>"))</a:t>
            </a:r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endParaRPr dirty="0"/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spec = </a:t>
            </a:r>
            <a:r>
              <a:rPr dirty="0" err="1"/>
              <a:t>add_spec</a:t>
            </a:r>
            <a:r>
              <a:rPr dirty="0"/>
              <a:t>("</a:t>
            </a:r>
            <a:r>
              <a:rPr b="1" dirty="0"/>
              <a:t>1.2</a:t>
            </a:r>
            <a:r>
              <a:rPr dirty="0"/>
              <a:t>", "</a:t>
            </a:r>
            <a:r>
              <a:rPr b="1" dirty="0"/>
              <a:t>Plan Type</a:t>
            </a:r>
            <a:r>
              <a:rPr dirty="0"/>
              <a:t>", "</a:t>
            </a:r>
            <a:r>
              <a:rPr dirty="0">
                <a:solidFill>
                  <a:schemeClr val="accent5"/>
                </a:solidFill>
              </a:rPr>
              <a:t>NSW Plan type shall be provided to uniquely identify the land Title</a:t>
            </a:r>
            <a:r>
              <a:rPr dirty="0"/>
              <a:t>")</a:t>
            </a:r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 err="1"/>
              <a:t>spec.applicability.append</a:t>
            </a:r>
            <a:r>
              <a:rPr dirty="0"/>
              <a:t>(</a:t>
            </a:r>
            <a:r>
              <a:rPr dirty="0" err="1"/>
              <a:t>ifctester.ids.Entity</a:t>
            </a:r>
            <a:r>
              <a:rPr dirty="0"/>
              <a:t>(name="</a:t>
            </a:r>
            <a:r>
              <a:rPr dirty="0">
                <a:solidFill>
                  <a:schemeClr val="accent1"/>
                </a:solidFill>
              </a:rPr>
              <a:t>IFCSITE</a:t>
            </a:r>
            <a:r>
              <a:rPr dirty="0"/>
              <a:t>"))</a:t>
            </a:r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restriction = </a:t>
            </a:r>
            <a:r>
              <a:rPr dirty="0" err="1"/>
              <a:t>ifctester.ids.Restriction</a:t>
            </a:r>
            <a:r>
              <a:rPr dirty="0"/>
              <a:t>(options={"pattern": "(SP|DP).+"})</a:t>
            </a:r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 err="1"/>
              <a:t>add_property</a:t>
            </a:r>
            <a:r>
              <a:rPr dirty="0"/>
              <a:t>(spec, "</a:t>
            </a:r>
            <a:r>
              <a:rPr dirty="0" err="1"/>
              <a:t>Pset_LandRegistration</a:t>
            </a:r>
            <a:r>
              <a:rPr dirty="0"/>
              <a:t>", "</a:t>
            </a:r>
            <a:r>
              <a:rPr dirty="0" err="1"/>
              <a:t>LandTitleID</a:t>
            </a:r>
            <a:r>
              <a:rPr dirty="0"/>
              <a:t>", "IFCIDENTIFIER", restriction)</a:t>
            </a:r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endParaRPr dirty="0"/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spec = </a:t>
            </a:r>
            <a:r>
              <a:rPr dirty="0" err="1"/>
              <a:t>add_spec</a:t>
            </a:r>
            <a:r>
              <a:rPr dirty="0"/>
              <a:t>(</a:t>
            </a:r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    "</a:t>
            </a:r>
            <a:r>
              <a:rPr b="1" dirty="0"/>
              <a:t>1.2</a:t>
            </a:r>
            <a:r>
              <a:rPr dirty="0"/>
              <a:t>", "</a:t>
            </a:r>
            <a:r>
              <a:rPr b="1" dirty="0"/>
              <a:t>Property Address</a:t>
            </a:r>
            <a:r>
              <a:rPr dirty="0"/>
              <a:t>", "</a:t>
            </a:r>
            <a:r>
              <a:rPr dirty="0">
                <a:solidFill>
                  <a:schemeClr val="accent5"/>
                </a:solidFill>
              </a:rPr>
              <a:t>Address information shall be provided to uniquely identify the project location</a:t>
            </a:r>
            <a:r>
              <a:rPr dirty="0"/>
              <a:t>"</a:t>
            </a:r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/>
              <a:t>)</a:t>
            </a:r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 err="1"/>
              <a:t>spec.applicability.append</a:t>
            </a:r>
            <a:r>
              <a:rPr dirty="0"/>
              <a:t>(</a:t>
            </a:r>
            <a:r>
              <a:rPr dirty="0" err="1"/>
              <a:t>ifctester.ids.Entity</a:t>
            </a:r>
            <a:r>
              <a:rPr dirty="0"/>
              <a:t>(name="</a:t>
            </a:r>
            <a:r>
              <a:rPr dirty="0">
                <a:solidFill>
                  <a:schemeClr val="accent1"/>
                </a:solidFill>
              </a:rPr>
              <a:t>IFCSITE</a:t>
            </a:r>
            <a:r>
              <a:rPr dirty="0"/>
              <a:t>"))</a:t>
            </a:r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 err="1"/>
              <a:t>add_property</a:t>
            </a:r>
            <a:r>
              <a:rPr dirty="0"/>
              <a:t>(spec, "</a:t>
            </a:r>
            <a:r>
              <a:rPr dirty="0" err="1"/>
              <a:t>Pset_Address</a:t>
            </a:r>
            <a:r>
              <a:rPr dirty="0"/>
              <a:t>", "Town", "IFCLABEL")</a:t>
            </a:r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 err="1"/>
              <a:t>add_property</a:t>
            </a:r>
            <a:r>
              <a:rPr dirty="0"/>
              <a:t>(spec, "</a:t>
            </a:r>
            <a:r>
              <a:rPr dirty="0" err="1"/>
              <a:t>Pset_Address</a:t>
            </a:r>
            <a:r>
              <a:rPr dirty="0"/>
              <a:t>", "</a:t>
            </a:r>
            <a:r>
              <a:rPr dirty="0" err="1"/>
              <a:t>PostalCode</a:t>
            </a:r>
            <a:r>
              <a:rPr dirty="0"/>
              <a:t>", "IFCLABEL")</a:t>
            </a:r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 err="1"/>
              <a:t>add_property</a:t>
            </a:r>
            <a:r>
              <a:rPr dirty="0"/>
              <a:t>(spec, "</a:t>
            </a:r>
            <a:r>
              <a:rPr dirty="0" err="1"/>
              <a:t>Pset_Address</a:t>
            </a:r>
            <a:r>
              <a:rPr dirty="0"/>
              <a:t>", "Region", "IFCLABEL")</a:t>
            </a:r>
          </a:p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rPr dirty="0" err="1"/>
              <a:t>add_property</a:t>
            </a:r>
            <a:r>
              <a:rPr dirty="0"/>
              <a:t>(spec, "</a:t>
            </a:r>
            <a:r>
              <a:rPr dirty="0" err="1"/>
              <a:t>Pset_Address</a:t>
            </a:r>
            <a:r>
              <a:rPr dirty="0"/>
              <a:t>", "Country", "IFCLABEL")</a:t>
            </a:r>
          </a:p>
        </p:txBody>
      </p:sp>
      <p:sp>
        <p:nvSpPr>
          <p:cNvPr id="590" name="TextBox 3"/>
          <p:cNvSpPr txBox="1"/>
          <p:nvPr/>
        </p:nvSpPr>
        <p:spPr>
          <a:xfrm>
            <a:off x="2410593" y="392849"/>
            <a:ext cx="673172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t>an IDS Specification…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2684-F72A-237A-60C1-8ACC8871E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Box 3">
            <a:extLst>
              <a:ext uri="{FF2B5EF4-FFF2-40B4-BE49-F238E27FC236}">
                <a16:creationId xmlns:a16="http://schemas.microsoft.com/office/drawing/2014/main" id="{29CAF241-58CA-7D0D-43E2-3ED3B125F6ED}"/>
              </a:ext>
            </a:extLst>
          </p:cNvPr>
          <p:cNvSpPr txBox="1"/>
          <p:nvPr/>
        </p:nvSpPr>
        <p:spPr>
          <a:xfrm>
            <a:off x="2410593" y="392849"/>
            <a:ext cx="673172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t>an IDS Specification…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0EE445-EA61-46A2-DFBA-F25C78322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93" y="947368"/>
            <a:ext cx="9571733" cy="520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87241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BSX Clause 1a.jpg" descr="BSX Clause 1a.jpg"/>
          <p:cNvPicPr>
            <a:picLocks noChangeAspect="1"/>
          </p:cNvPicPr>
          <p:nvPr/>
        </p:nvPicPr>
        <p:blipFill>
          <a:blip r:embed="rId2"/>
          <a:srcRect l="912" t="19740" r="2358"/>
          <a:stretch>
            <a:fillRect/>
          </a:stretch>
        </p:blipFill>
        <p:spPr>
          <a:xfrm>
            <a:off x="2371666" y="1297128"/>
            <a:ext cx="7117223" cy="5385060"/>
          </a:xfrm>
          <a:prstGeom prst="rect">
            <a:avLst/>
          </a:prstGeom>
          <a:ln w="12700">
            <a:miter lim="400000"/>
          </a:ln>
        </p:spPr>
      </p:pic>
      <p:sp>
        <p:nvSpPr>
          <p:cNvPr id="604" name="TextBox 3"/>
          <p:cNvSpPr txBox="1"/>
          <p:nvPr/>
        </p:nvSpPr>
        <p:spPr>
          <a:xfrm>
            <a:off x="2730136" y="409782"/>
            <a:ext cx="6731728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dirty="0"/>
              <a:t>getting an IDS report…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TextBox 1"/>
          <p:cNvSpPr txBox="1"/>
          <p:nvPr/>
        </p:nvSpPr>
        <p:spPr>
          <a:xfrm>
            <a:off x="283844" y="142875"/>
            <a:ext cx="10408620" cy="858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t>Blah, blah, blah</a:t>
            </a:r>
          </a:p>
          <a:p>
            <a:pPr lvl="1" indent="87313">
              <a:defRPr sz="1100" b="1"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lvl="1" indent="539750" algn="ctr"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 Blah, blah, blah</a:t>
            </a:r>
          </a:p>
        </p:txBody>
      </p:sp>
      <p:pic>
        <p:nvPicPr>
          <p:cNvPr id="607" name="BSX Clause 1b.jpg" descr="BSX Clause 1b.jpg"/>
          <p:cNvPicPr>
            <a:picLocks noChangeAspect="1"/>
          </p:cNvPicPr>
          <p:nvPr/>
        </p:nvPicPr>
        <p:blipFill>
          <a:blip r:embed="rId2"/>
          <a:srcRect l="2071"/>
          <a:stretch>
            <a:fillRect/>
          </a:stretch>
        </p:blipFill>
        <p:spPr>
          <a:xfrm>
            <a:off x="2488312" y="4482"/>
            <a:ext cx="7215376" cy="67188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TextBox 1"/>
          <p:cNvSpPr txBox="1"/>
          <p:nvPr/>
        </p:nvSpPr>
        <p:spPr>
          <a:xfrm>
            <a:off x="283844" y="142875"/>
            <a:ext cx="10408620" cy="858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t>Blah, blah, blah</a:t>
            </a:r>
          </a:p>
          <a:p>
            <a:pPr lvl="1" indent="87313">
              <a:defRPr sz="1100" b="1"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lvl="1" indent="539750" algn="ctr"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 Blah, blah, blah</a:t>
            </a:r>
          </a:p>
        </p:txBody>
      </p:sp>
      <p:pic>
        <p:nvPicPr>
          <p:cNvPr id="610" name="BSX Clause 1c.jpg" descr="BSX Clause 1c.jpg"/>
          <p:cNvPicPr>
            <a:picLocks noChangeAspect="1"/>
          </p:cNvPicPr>
          <p:nvPr/>
        </p:nvPicPr>
        <p:blipFill>
          <a:blip r:embed="rId2"/>
          <a:srcRect l="1929"/>
          <a:stretch>
            <a:fillRect/>
          </a:stretch>
        </p:blipFill>
        <p:spPr>
          <a:xfrm>
            <a:off x="2478060" y="4482"/>
            <a:ext cx="7235880" cy="67281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TextBox 1"/>
          <p:cNvSpPr txBox="1"/>
          <p:nvPr/>
        </p:nvSpPr>
        <p:spPr>
          <a:xfrm>
            <a:off x="283844" y="142875"/>
            <a:ext cx="10408620" cy="858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t>Blah, blah, blah</a:t>
            </a:r>
          </a:p>
          <a:p>
            <a:pPr lvl="1" indent="87313">
              <a:defRPr sz="1100" b="1"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lvl="1" indent="539750" algn="ctr"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 Blah, blah, blah</a:t>
            </a:r>
          </a:p>
        </p:txBody>
      </p:sp>
      <p:pic>
        <p:nvPicPr>
          <p:cNvPr id="613" name="BSX Clause 3Window_Doors.jpg" descr="BSX Clause 3Window_Doo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716" y="4482"/>
            <a:ext cx="7354564" cy="67066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TextBox 3"/>
          <p:cNvSpPr txBox="1"/>
          <p:nvPr/>
        </p:nvSpPr>
        <p:spPr>
          <a:xfrm>
            <a:off x="2730136" y="409782"/>
            <a:ext cx="6731728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t>Improving Productivity using IDS</a:t>
            </a:r>
          </a:p>
        </p:txBody>
      </p:sp>
      <p:sp>
        <p:nvSpPr>
          <p:cNvPr id="644" name="As all BASIX submitters know, BASIX requires detailed environmental, water usage, waste, electrical data - the IFC source model needs to be multi-disciplinary!…"/>
          <p:cNvSpPr txBox="1"/>
          <p:nvPr/>
        </p:nvSpPr>
        <p:spPr>
          <a:xfrm>
            <a:off x="2240303" y="964750"/>
            <a:ext cx="8151472" cy="5438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>
              <a:spcBef>
                <a:spcPts val="600"/>
              </a:spcBef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dirty="0">
                <a:latin typeface="Gill Sans MT" panose="020B0502020104020203" pitchFamily="34" charset="0"/>
              </a:rPr>
              <a:t>As all BASIX submitters know, BASIX requires detailed environmental, water usage, waste, electrical data - the IFC source model needs to be multi-disciplinary!</a:t>
            </a:r>
          </a:p>
          <a:p>
            <a:pPr marL="228600" indent="-228600">
              <a:spcBef>
                <a:spcPts val="600"/>
              </a:spcBef>
              <a:buSzPct val="100000"/>
              <a:buChar char="•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dirty="0">
                <a:latin typeface="Gill Sans MT" panose="020B0502020104020203" pitchFamily="34" charset="0"/>
              </a:rPr>
              <a:t>Our small examples highlight the benefit to modelling requiring authoritative, defensible data in the emerging context of embodied carbon and certified building product data. </a:t>
            </a:r>
          </a:p>
          <a:p>
            <a:pPr marL="228600" indent="-228600">
              <a:spcBef>
                <a:spcPts val="600"/>
              </a:spcBef>
              <a:buSzPct val="100000"/>
              <a:buChar char="•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dirty="0">
                <a:latin typeface="Gill Sans MT" panose="020B0502020104020203" pitchFamily="34" charset="0"/>
              </a:rPr>
              <a:t>Smart digital access to property &amp; land data, council zoning, government utility services, climate zones… would make the model more robust</a:t>
            </a:r>
          </a:p>
          <a:p>
            <a:pPr>
              <a:spcBef>
                <a:spcPts val="600"/>
              </a:spcBef>
              <a:defRPr sz="800"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lang="en-US" dirty="0">
              <a:latin typeface="Gill Sans MT" panose="020B0502020104020203" pitchFamily="34" charset="0"/>
            </a:endParaRPr>
          </a:p>
          <a:p>
            <a:pPr>
              <a:spcBef>
                <a:spcPts val="600"/>
              </a:spcBef>
              <a:defRPr sz="800"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lang="en-AU" dirty="0">
              <a:latin typeface="Gill Sans MT" panose="020B0502020104020203" pitchFamily="34" charset="0"/>
            </a:endParaRPr>
          </a:p>
          <a:p>
            <a:pPr>
              <a:spcBef>
                <a:spcPts val="600"/>
              </a:spcBef>
              <a:defRPr sz="800"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dirty="0">
              <a:latin typeface="Gill Sans MT" panose="020B0502020104020203" pitchFamily="34" charset="0"/>
            </a:endParaRPr>
          </a:p>
          <a:p>
            <a:pPr>
              <a:spcBef>
                <a:spcPts val="600"/>
              </a:spcBef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2400" dirty="0">
                <a:latin typeface="Gill Sans MT" panose="020B0502020104020203" pitchFamily="34" charset="0"/>
              </a:rPr>
              <a:t>Adopting the IFC model solution 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2400" dirty="0">
                <a:latin typeface="Gill Sans MT" panose="020B0502020104020203" pitchFamily="34" charset="0"/>
              </a:rPr>
              <a:t>facilitates incremental submission and testing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2400" dirty="0">
                <a:latin typeface="Gill Sans MT" panose="020B0502020104020203" pitchFamily="34" charset="0"/>
              </a:rPr>
              <a:t>enhances services integration with the architectural models</a:t>
            </a: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2400" dirty="0">
                <a:latin typeface="Gill Sans MT" panose="020B0502020104020203" pitchFamily="34" charset="0"/>
              </a:rPr>
              <a:t>provides BASIX with precise (geo-referenced) geometric, spatial &amp; performance measures </a:t>
            </a:r>
            <a:endParaRPr lang="en-AU" sz="2400" dirty="0">
              <a:latin typeface="Gill Sans MT" panose="020B0502020104020203" pitchFamily="34" charset="0"/>
            </a:endParaRPr>
          </a:p>
          <a:p>
            <a:pPr marL="180473" indent="-180473">
              <a:spcBef>
                <a:spcPts val="600"/>
              </a:spcBef>
              <a:buSzPct val="100000"/>
              <a:buChar char="-"/>
              <a:defRPr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lang="en-AU" sz="2400" dirty="0">
                <a:latin typeface="Gill Sans MT" panose="020B0502020104020203" pitchFamily="34" charset="0"/>
              </a:rPr>
              <a:t>solution can be expanded for other regulatory compliance</a:t>
            </a:r>
            <a:endParaRPr sz="2400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35FB-9FA4-7D12-A10F-E985EE428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TextBox 3">
            <a:extLst>
              <a:ext uri="{FF2B5EF4-FFF2-40B4-BE49-F238E27FC236}">
                <a16:creationId xmlns:a16="http://schemas.microsoft.com/office/drawing/2014/main" id="{AA82D5A8-6B50-10FD-6A72-73557E287BD2}"/>
              </a:ext>
            </a:extLst>
          </p:cNvPr>
          <p:cNvSpPr txBox="1"/>
          <p:nvPr/>
        </p:nvSpPr>
        <p:spPr>
          <a:xfrm>
            <a:off x="1085851" y="409782"/>
            <a:ext cx="9682306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900" b="1">
                <a:solidFill>
                  <a:schemeClr val="accent1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rPr dirty="0"/>
              <a:t>Improving Productivity with </a:t>
            </a:r>
            <a:r>
              <a:rPr lang="en-AU" dirty="0"/>
              <a:t>Open BIM, IFC and </a:t>
            </a:r>
            <a:r>
              <a:rPr dirty="0"/>
              <a:t>IDS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336B8D-9AAB-42B5-A584-C1E65B6535A1}"/>
              </a:ext>
            </a:extLst>
          </p:cNvPr>
          <p:cNvSpPr txBox="1"/>
          <p:nvPr/>
        </p:nvSpPr>
        <p:spPr>
          <a:xfrm>
            <a:off x="1247775" y="1329809"/>
            <a:ext cx="611505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AU" dirty="0"/>
              <a:t>https://evitat.com.au/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3C8451-F2A7-EFF6-A5DF-4FBE157B7981}"/>
              </a:ext>
            </a:extLst>
          </p:cNvPr>
          <p:cNvSpPr txBox="1"/>
          <p:nvPr/>
        </p:nvSpPr>
        <p:spPr>
          <a:xfrm>
            <a:off x="1247775" y="1967210"/>
            <a:ext cx="10287000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AU" dirty="0"/>
              <a:t>https://pp.planningportal.nsw.gov.au/development-and-assessment/basix/about-basix/dwelling-types/multi-dwelling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65679-6070-2858-3A39-A609119DB84B}"/>
              </a:ext>
            </a:extLst>
          </p:cNvPr>
          <p:cNvSpPr txBox="1"/>
          <p:nvPr/>
        </p:nvSpPr>
        <p:spPr>
          <a:xfrm>
            <a:off x="1247775" y="2717960"/>
            <a:ext cx="6115050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Multi-dwelling | Planning Portal - Department of Planning and Environment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2251E3-E104-4075-8485-B3876B6083F7}"/>
              </a:ext>
            </a:extLst>
          </p:cNvPr>
          <p:cNvSpPr txBox="1"/>
          <p:nvPr/>
        </p:nvSpPr>
        <p:spPr>
          <a:xfrm>
            <a:off x="1247775" y="4368284"/>
            <a:ext cx="611505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NSW Planning Portal Spatial Viewer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AD05F8-FA3C-344B-BE90-9822A5DB8947}"/>
              </a:ext>
            </a:extLst>
          </p:cNvPr>
          <p:cNvSpPr txBox="1"/>
          <p:nvPr/>
        </p:nvSpPr>
        <p:spPr>
          <a:xfrm>
            <a:off x="1247774" y="3598129"/>
            <a:ext cx="968230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AU" dirty="0"/>
              <a:t>https://www.planningportal.nsw.gov.au/spatialviewer/#/find-a-property/address</a:t>
            </a:r>
          </a:p>
        </p:txBody>
      </p:sp>
    </p:spTree>
    <p:extLst>
      <p:ext uri="{BB962C8B-B14F-4D97-AF65-F5344CB8AC3E}">
        <p14:creationId xmlns:p14="http://schemas.microsoft.com/office/powerpoint/2010/main" val="1094219678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1_White">
  <a:themeElements>
    <a:clrScheme name="1_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1_Whit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1_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4" tIns="71434" rIns="71434" bIns="71434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4" tIns="71434" rIns="71434" bIns="71434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White">
  <a:themeElements>
    <a:clrScheme name="1_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1_Whit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1_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4" tIns="71434" rIns="71434" bIns="71434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4" tIns="71434" rIns="71434" bIns="71434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2452</TotalTime>
  <Words>1456</Words>
  <Application>Microsoft Office PowerPoint</Application>
  <PresentationFormat>Widescreen</PresentationFormat>
  <Paragraphs>216</Paragraphs>
  <Slides>53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Aptos Display</vt:lpstr>
      <vt:lpstr>Calibri</vt:lpstr>
      <vt:lpstr>Calibri Light</vt:lpstr>
      <vt:lpstr>Gill Sans Light</vt:lpstr>
      <vt:lpstr>Gill Sans MT</vt:lpstr>
      <vt:lpstr>Helvetica Light</vt:lpstr>
      <vt:lpstr>Open Sans</vt:lpstr>
      <vt:lpstr>Open Sans Light</vt:lpstr>
      <vt:lpstr>Roboto Condensed Bold</vt:lpstr>
      <vt:lpstr>Roboto Condensed Regular</vt:lpstr>
      <vt:lpstr>Roboto Medium</vt:lpstr>
      <vt:lpstr>1_White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You…..any questions?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Scott Beazley</dc:creator>
  <cp:lastModifiedBy>Scott Beazley</cp:lastModifiedBy>
  <cp:revision>80</cp:revision>
  <dcterms:modified xsi:type="dcterms:W3CDTF">2026-05-20T05:19:45Z</dcterms:modified>
</cp:coreProperties>
</file>